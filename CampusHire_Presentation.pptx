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163a91-ca86-5ab0-b913-ea6122e50f01}">
          <p14:sldIdLst>
            <p14:sldId id="256"/>
            <p14:sldId id="257"/>
            <p14:sldId id="258"/>
            <p14:sldId id="259"/>
          </p14:sldIdLst>
        </p14:section>
        <p14:section name="Design" id="{00411dde-e1d8-9537-5da8-5685a46a236a}">
          <p14:sldIdLst>
            <p14:sldId id="260"/>
            <p14:sldId id="261"/>
            <p14:sldId id="262"/>
            <p14:sldId id="263"/>
            <p14:sldId id="264"/>
          </p14:sldIdLst>
        </p14:section>
        <p14:section name="Results" id="{e9106d7b-8840-cde6-aaef-b56a3253a89c}">
          <p14:sldIdLst>
            <p14:sldId id="265"/>
            <p14:sldId id="266"/>
            <p14:sldId id="267"/>
            <p14:sldId id="268"/>
          </p14:sldIdLst>
        </p14:section>
        <p14:section name="Wrap-up" id="{53fbf6ff-423d-92b6-4090-9946b39e7746}">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B1020"/>
                </a:solidFill>
                <a:latin typeface="+mn-lt"/>
              </a:defRPr>
            </a:pPr>
            <a:r>
              <a:rPr sz="1600" b="0" i="0" u="none" strike="noStrike">
                <a:solidFill>
                  <a:srgbClr val="0B1020"/>
                </a:solidFill>
                <a:latin typeface="+mn-lt"/>
              </a:rPr>
              <a:t>Latency (ms)</a:t>
            </a:r>
          </a:p>
        </c:rich>
      </c:tx>
      <c:layout/>
      <c:overlay val="0"/>
    </c:title>
    <c:autoTitleDeleted val="0"/>
    <c:plotArea>
      <c:layout/>
      <c:barChart>
        <c:barDir val="col"/>
        <c:grouping val="clustered"/>
        <c:varyColors val="0"/>
        <c:ser>
          <c:idx val="0"/>
          <c:order val="0"/>
          <c:tx>
            <c:strRef>
              <c:f>Sheet1!$B$1</c:f>
              <c:strCache>
                <c:ptCount val="1"/>
                <c:pt idx="0">
                  <c:v>Local</c:v>
                </c:pt>
              </c:strCache>
            </c:strRef>
          </c:tx>
          <c:spPr>
            <a:solidFill>
              <a:srgbClr val="3B4FE0"/>
            </a:solidFill>
            <a:effectLst/>
          </c:spPr>
          <c:invertIfNegative val="0"/>
          <c:dLbls>
            <c:numFmt formatCode="0.0" sourceLinked="0"/>
            <c:txPr>
              <a:bodyPr/>
              <a:lstStyle/>
              <a:p>
                <a:pPr>
                  <a:defRPr b="0" i="0" strike="noStrike" sz="1200" u="none">
                    <a:solidFill>
                      <a:srgbClr val="1B2236"/>
                    </a:solidFill>
                    <a:latin typeface="+mn-lt"/>
                  </a:defRPr>
                </a:pPr>
              </a:p>
            </c:txPr>
            <c:showLegendKey val="0"/>
            <c:showVal val="1"/>
            <c:showCatName val="0"/>
            <c:showSerName val="0"/>
            <c:showPercent val="0"/>
            <c:showBubbleSize val="0"/>
            <c:showLeaderLines val="0"/>
          </c:dLbls>
          <c:cat>
            <c:multiLvlStrRef>
              <c:f>Sheet1!$A$2:$A$4</c:f>
              <c:multiLvlStrCache>
                <c:ptCount val="3"/>
                <c:lvl>
                  <c:pt idx="0">
                    <c:v>Page response (GET /)</c:v>
                  </c:pt>
                  <c:pt idx="1">
                    <c:v>Login request</c:v>
                  </c:pt>
                  <c:pt idx="2">
                    <c:v>Database query</c:v>
                  </c:pt>
                </c:lvl>
              </c:multiLvlStrCache>
            </c:multiLvlStrRef>
          </c:cat>
          <c:val>
            <c:numRef>
              <c:f>Sheet1!$B$2:$B$4</c:f>
              <c:numCache>
                <c:formatCode>General</c:formatCode>
                <c:ptCount val="3"/>
                <c:pt idx="0">
                  <c:v>14.2</c:v>
                </c:pt>
                <c:pt idx="1">
                  <c:v>22.6</c:v>
                </c:pt>
                <c:pt idx="2">
                  <c:v>4.8</c:v>
                </c:pt>
              </c:numCache>
            </c:numRef>
          </c:val>
        </c:ser>
        <c:ser>
          <c:idx val="1"/>
          <c:order val="1"/>
          <c:tx>
            <c:strRef>
              <c:f>Sheet1!$C$1</c:f>
              <c:strCache>
                <c:ptCount val="1"/>
                <c:pt idx="0">
                  <c:v>Cloud (Render + TiDB)</c:v>
                </c:pt>
              </c:strCache>
            </c:strRef>
          </c:tx>
          <c:spPr>
            <a:solidFill>
              <a:srgbClr val="14B8A6"/>
            </a:solidFill>
            <a:effectLst/>
          </c:spPr>
          <c:invertIfNegative val="0"/>
          <c:dLbls>
            <c:numFmt formatCode="0.0" sourceLinked="0"/>
            <c:txPr>
              <a:bodyPr/>
              <a:lstStyle/>
              <a:p>
                <a:pPr>
                  <a:defRPr b="0" i="0" strike="noStrike" sz="1200" u="none">
                    <a:solidFill>
                      <a:srgbClr val="1B2236"/>
                    </a:solidFill>
                    <a:latin typeface="+mn-lt"/>
                  </a:defRPr>
                </a:pPr>
              </a:p>
            </c:txPr>
            <c:showLegendKey val="0"/>
            <c:showVal val="1"/>
            <c:showCatName val="0"/>
            <c:showSerName val="0"/>
            <c:showPercent val="0"/>
            <c:showBubbleSize val="0"/>
            <c:showLeaderLines val="0"/>
          </c:dLbls>
          <c:cat>
            <c:multiLvlStrRef>
              <c:f>Sheet1!$A$2:$A$4</c:f>
              <c:multiLvlStrCache>
                <c:ptCount val="3"/>
                <c:lvl>
                  <c:pt idx="0">
                    <c:v>Page response (GET /)</c:v>
                  </c:pt>
                  <c:pt idx="1">
                    <c:v>Login request</c:v>
                  </c:pt>
                  <c:pt idx="2">
                    <c:v>Database query</c:v>
                  </c:pt>
                </c:lvl>
              </c:multiLvlStrCache>
            </c:multiLvlStrRef>
          </c:cat>
          <c:val>
            <c:numRef>
              <c:f>Sheet1!$C$2:$C$4</c:f>
              <c:numCache>
                <c:formatCode>General</c:formatCode>
                <c:ptCount val="3"/>
                <c:pt idx="0">
                  <c:v>185</c:v>
                </c:pt>
                <c:pt idx="1">
                  <c:v>210</c:v>
                </c:pt>
                <c:pt idx="2">
                  <c:v>42.5</c:v>
                </c:pt>
              </c:numCache>
            </c:numRef>
          </c:val>
        </c:ser>
        <c:dLbls>
          <c:numFmt formatCode="0.0" sourceLinked="0"/>
          <c:txPr>
            <a:bodyPr/>
            <a:lstStyle/>
            <a:p>
              <a:pPr>
                <a:defRPr b="0" i="0" strike="noStrike" sz="1200" u="none">
                  <a:solidFill>
                    <a:srgbClr val="1B223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2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23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2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Hum apna project CampusHire present kar rahe hain - ek college placement aur internship management system, jo Core Java, Servlets, JSP, JDBC aur MySQL par bana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chaar main problems hain jo humne identify kiye: records alag alag copies mein, eligibility manual, status ki visibility nahi, aur confidential data ka role-based separation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teen actors hain: student, company recruiter aur TPO. Existing systems mein aksar sirf student aur admin hote hain. Humara contribution ye combination hai - recruiter self-service, server-side eligibility, formal lifecycle aur framework-free deployment. Hum koi naya algorithm claim nahi karte.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 ne jaan-boojhkar koi bada framework use nahi kiya. Isse stack halka, inspect karne mein aasaan aur sasta host hota hai. Build Maven se hota hai aur Docker image Tomcat 10.1 par Render par chalti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Teeno tiers clear separated hain. Sabse important cheez AuthFilter hai jo har request ko servlet ya database tak pahunchne se pehle check karta hai. DBConnection configuration se local MySQL ya cloud database choose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check do mechanisms se hota hai: WEB-INF mein views aur AuthFilter. Table intended data visibility dikhati hai. Admin aur database operator ka access ek residual risk hai jo application level se remove nahi hota.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campus_hire_db mein chhe tables hain. applications table posting_type aur posting_id se job ya internship ko refer karti hai, aur student plus posting par UNIQUE constraint duplicate application rokta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lifecycle ek hi forward path hai: PENDING, SHORTLISTED, INTERVIEW_SCHEDULED aur phir ACCEPTED ya REJECTED. Honest note: abhi ye transitions UI se enforce hote hain, server-side transition table future work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Eligibility rule server par do baar check hoti hai - listing ke time aur application submit ke time. Duplicate application ko database ka UNIQUE constraint rokta hai, concurrent requests mein bhi.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deployed prototype ke real screenshots hain. Dhyan rahe ki counters aur cards sample data hain, real placement season ka data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Registration mein student aur company ke alag forms hain. Company ka account TPO approval ke baad hi active hota hai. Login page par teen tabs hain: Student, Company HR aur Admin/TPO.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 honest hain: credential hashing abhi unsalted SHA-256 hai, jo weak hai aur ise bcrypt ya Argon2id se replace karna hai. CSRF aur XSS protections bhi verify karni baaki hain. Admin ya database operator ek residual insider risk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values team ne apne environment mein measure ki hain. Cloud par latency zyada hai kyunki network round trip aur TiDB serverless hai. Ye load test nahi hai aur framework baseline se comparison nahi kiya gaya.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framework-free Java stack se poora placement lifecycle possible hai. Hum limitations openly maante hain, aur future work mein password hashing, CSRF, audit log, aur proper testing planned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Dhanyavaad. Koi sawal ho to poochh sakte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CampusHire  |  Arya College of Engineering &amp; I.T.</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6035040" cy="100584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ENT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103120"/>
            <a:ext cx="10360152" cy="1188720"/>
          </a:xfrm>
          <a:prstGeom prst="rect">
            <a:avLst/>
          </a:prstGeom>
          <a:noFill/>
          <a:ln/>
        </p:spPr>
        <p:txBody>
          <a:bodyPr wrap="square" rtlCol="0"/>
          <a:lstStyle>
            <a:lvl1pPr algn="ctr" indent="0" marL="0">
              <a:buNone/>
              <a:defRPr lang="en-US" sz="6600" b="1" dirty="0">
                <a:solidFill>
                  <a:schemeClr val="bg1"/>
                </a:solidFill>
                <a:latin typeface="Cambria" pitchFamily="34" charset="0"/>
                <a:ea typeface="Cambria" pitchFamily="34" charset="-122"/>
                <a:cs typeface="Cambria" pitchFamily="34" charset="-120"/>
              </a:defRPr>
            </a:lvl1pPr>
          </a:lstStyle>
          <a:p>
            <a:pPr algn="ctr" indent="0" marL="0">
              <a:buNone/>
            </a:pPr>
            <a:endParaRPr lang="en-US" sz="6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6035040" cy="1005840"/>
          </a:xfrm>
          <a:prstGeom prst="rect">
            <a:avLst/>
          </a:prstGeom>
          <a:noFill/>
          <a:ln/>
        </p:spPr>
        <p:txBody>
          <a:bodyPr wrap="square" lIns="0" tIns="0" rIns="0" bIns="0" rtlCol="0" anchor="t"/>
          <a:lstStyle/>
          <a:p>
            <a:pPr algn="l" indent="0" marL="0">
              <a:buNone/>
            </a:pPr>
            <a:r>
              <a:rPr lang="en-US" sz="5400" b="1" dirty="0">
                <a:solidFill>
                  <a:schemeClr val="bg1"/>
                </a:solidFill>
                <a:latin typeface="Cambria" pitchFamily="34" charset="0"/>
                <a:ea typeface="Cambria" pitchFamily="34" charset="-122"/>
                <a:cs typeface="Cambria" pitchFamily="34" charset="-120"/>
              </a:rPr>
              <a:t>CampusHire</a:t>
            </a:r>
            <a:endParaRPr lang="en-US" sz="5400" dirty="0"/>
          </a:p>
        </p:txBody>
      </p:sp>
      <p:sp>
        <p:nvSpPr>
          <p:cNvPr id="3" name="subtitle"/>
          <p:cNvSpPr txBox="1"/>
          <p:nvPr/>
        </p:nvSpPr>
        <p:spPr>
          <a:xfrm>
            <a:off x="731520" y="1874520"/>
            <a:ext cx="6035040" cy="822960"/>
          </a:xfrm>
          <a:prstGeom prst="rect">
            <a:avLst/>
          </a:prstGeom>
          <a:noFill/>
          <a:ln/>
        </p:spPr>
        <p:txBody>
          <a:bodyPr wrap="square" lIns="0" tIns="0" rIns="0" bIns="0" rtlCol="0" anchor="t"/>
          <a:lstStyle/>
          <a:p>
            <a:pPr indent="0" marL="0">
              <a:buNone/>
            </a:pPr>
            <a:r>
              <a:rPr lang="en-US" sz="2400" b="1" dirty="0">
                <a:solidFill>
                  <a:schemeClr val="accent2"/>
                </a:solidFill>
              </a:rPr>
              <a:t>College Placement &amp; Internship Management System</a:t>
            </a:r>
            <a:endParaRPr lang="en-US" sz="2400" dirty="0"/>
          </a:p>
        </p:txBody>
      </p:sp>
      <p:sp>
        <p:nvSpPr>
          <p:cNvPr id="4" name="tagline"/>
          <p:cNvSpPr txBox="1"/>
          <p:nvPr/>
        </p:nvSpPr>
        <p:spPr>
          <a:xfrm>
            <a:off x="731520" y="2743200"/>
            <a:ext cx="5852160" cy="731520"/>
          </a:xfrm>
          <a:prstGeom prst="rect">
            <a:avLst/>
          </a:prstGeom>
          <a:noFill/>
          <a:ln/>
        </p:spPr>
        <p:txBody>
          <a:bodyPr wrap="square" lIns="0" tIns="0" rIns="0" bIns="0" rtlCol="0" anchor="t"/>
          <a:lstStyle/>
          <a:p>
            <a:pPr indent="0" marL="0">
              <a:buNone/>
            </a:pPr>
            <a:r>
              <a:rPr lang="en-US" sz="1600" dirty="0">
                <a:solidFill>
                  <a:srgbClr val="C9D3EA"/>
                </a:solidFill>
              </a:rPr>
              <a:t>A secure, zero-framework, three-tier web architecture for role-separated campus recruitment</a:t>
            </a:r>
            <a:endParaRPr lang="en-US" sz="1600" dirty="0"/>
          </a:p>
        </p:txBody>
      </p:sp>
      <p:sp>
        <p:nvSpPr>
          <p:cNvPr id="5" name="presented by label"/>
          <p:cNvSpPr txBox="1"/>
          <p:nvPr/>
        </p:nvSpPr>
        <p:spPr>
          <a:xfrm>
            <a:off x="731520" y="3794760"/>
            <a:ext cx="3657600" cy="320040"/>
          </a:xfrm>
          <a:prstGeom prst="rect">
            <a:avLst/>
          </a:prstGeom>
          <a:noFill/>
          <a:ln/>
        </p:spPr>
        <p:txBody>
          <a:bodyPr wrap="square" lIns="0" tIns="0" rIns="0" bIns="0" rtlCol="0" anchor="ctr"/>
          <a:lstStyle/>
          <a:p>
            <a:pPr indent="0" marL="0">
              <a:buNone/>
            </a:pPr>
            <a:r>
              <a:rPr lang="en-US" sz="1400" b="1" dirty="0">
                <a:solidFill>
                  <a:schemeClr val="accent2"/>
                </a:solidFill>
              </a:rPr>
              <a:t>Presented by</a:t>
            </a:r>
            <a:endParaRPr lang="en-US" sz="1400" dirty="0"/>
          </a:p>
        </p:txBody>
      </p:sp>
      <p:sp>
        <p:nvSpPr>
          <p:cNvPr id="6" name="names left"/>
          <p:cNvSpPr txBox="1"/>
          <p:nvPr/>
        </p:nvSpPr>
        <p:spPr>
          <a:xfrm>
            <a:off x="731520" y="4160520"/>
            <a:ext cx="2834640" cy="10972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Yash Kumar</a:t>
            </a:r>
            <a:endParaRPr lang="en-US" sz="1800" dirty="0"/>
          </a:p>
          <a:p>
            <a:pPr indent="0" marL="0">
              <a:spcAft>
                <a:spcPts val="400"/>
              </a:spcAft>
              <a:buNone/>
            </a:pPr>
            <a:r>
              <a:rPr lang="en-US" sz="1800" dirty="0">
                <a:solidFill>
                  <a:schemeClr val="bg1"/>
                </a:solidFill>
              </a:rPr>
              <a:t>Virender Singh</a:t>
            </a:r>
            <a:endParaRPr lang="en-US" sz="1800" dirty="0"/>
          </a:p>
          <a:p>
            <a:pPr indent="0" marL="0">
              <a:spcAft>
                <a:spcPts val="400"/>
              </a:spcAft>
              <a:buNone/>
            </a:pPr>
            <a:r>
              <a:rPr lang="en-US" sz="1800" dirty="0">
                <a:solidFill>
                  <a:schemeClr val="bg1"/>
                </a:solidFill>
              </a:rPr>
              <a:t>Udit Bhardwaj</a:t>
            </a:r>
            <a:endParaRPr lang="en-US" sz="1800" dirty="0"/>
          </a:p>
        </p:txBody>
      </p:sp>
      <p:sp>
        <p:nvSpPr>
          <p:cNvPr id="7" name="names right"/>
          <p:cNvSpPr txBox="1"/>
          <p:nvPr/>
        </p:nvSpPr>
        <p:spPr>
          <a:xfrm>
            <a:off x="3657600" y="4160520"/>
            <a:ext cx="2834640" cy="10972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Vaibhav Charan</a:t>
            </a:r>
            <a:endParaRPr lang="en-US" sz="1800" dirty="0"/>
          </a:p>
          <a:p>
            <a:pPr indent="0" marL="0">
              <a:spcAft>
                <a:spcPts val="400"/>
              </a:spcAft>
              <a:buNone/>
            </a:pPr>
            <a:r>
              <a:rPr lang="en-US" sz="1800" dirty="0">
                <a:solidFill>
                  <a:schemeClr val="bg1"/>
                </a:solidFill>
              </a:rPr>
              <a:t>Rahul Tailor</a:t>
            </a:r>
            <a:endParaRPr lang="en-US" sz="1800" dirty="0"/>
          </a:p>
        </p:txBody>
      </p:sp>
      <p:sp>
        <p:nvSpPr>
          <p:cNvPr id="8" name="guide line"/>
          <p:cNvSpPr txBox="1"/>
          <p:nvPr/>
        </p:nvSpPr>
        <p:spPr>
          <a:xfrm>
            <a:off x="731520" y="5669280"/>
            <a:ext cx="5852160" cy="548640"/>
          </a:xfrm>
          <a:prstGeom prst="rect">
            <a:avLst/>
          </a:prstGeom>
          <a:noFill/>
          <a:ln/>
        </p:spPr>
        <p:txBody>
          <a:bodyPr wrap="square" lIns="0" tIns="0" rIns="0" bIns="0" rtlCol="0" anchor="t"/>
          <a:lstStyle/>
          <a:p>
            <a:pPr indent="0" marL="0">
              <a:buNone/>
            </a:pPr>
            <a:r>
              <a:rPr lang="en-US" sz="1200" dirty="0">
                <a:solidFill>
                  <a:srgbClr val="9FB0D0"/>
                </a:solidFill>
              </a:rPr>
              <a:t>Guided by Er. Ram Babu Buri  |  Dept. of AI &amp; Data Science, Arya College of Engineering &amp; I.T., Jaipur</a:t>
            </a:r>
            <a:endParaRPr lang="en-US" sz="1200" dirty="0"/>
          </a:p>
        </p:txBody>
      </p:sp>
      <p:sp>
        <p:nvSpPr>
          <p:cNvPr id="9" name="cover shot frame"/>
          <p:cNvSpPr/>
          <p:nvPr/>
        </p:nvSpPr>
        <p:spPr>
          <a:xfrm>
            <a:off x="6903720" y="1234440"/>
            <a:ext cx="4846320" cy="2304288"/>
          </a:xfrm>
          <a:prstGeom prst="roundRect">
            <a:avLst>
              <a:gd name="adj" fmla="val 3968"/>
            </a:avLst>
          </a:prstGeom>
          <a:solidFill>
            <a:schemeClr val="tx2"/>
          </a:solidFill>
          <a:ln w="19050">
            <a:solidFill>
              <a:schemeClr val="accent2"/>
            </a:solidFill>
            <a:prstDash val="solid"/>
          </a:ln>
        </p:spPr>
      </p:sp>
      <p:pic>
        <p:nvPicPr>
          <p:cNvPr id="10" name="cover shot home" descr="CampusHire home page">    </p:cNvPr>
          <p:cNvPicPr>
            <a:picLocks noChangeAspect="1"/>
          </p:cNvPicPr>
          <p:nvPr/>
        </p:nvPicPr>
        <p:blipFill>
          <a:blip r:embed="rId1"/>
          <a:srcRect l="0" r="0" t="0" b="0"/>
          <a:stretch/>
        </p:blipFill>
        <p:spPr>
          <a:xfrm>
            <a:off x="6903720" y="1234440"/>
            <a:ext cx="4846320" cy="2304288"/>
          </a:xfrm>
          <a:prstGeom prst="rect">
            <a:avLst/>
          </a:prstGeom>
        </p:spPr>
      </p:pic>
      <p:sp>
        <p:nvSpPr>
          <p:cNvPr id="11" name="cover shot 2 frame"/>
          <p:cNvSpPr/>
          <p:nvPr/>
        </p:nvSpPr>
        <p:spPr>
          <a:xfrm>
            <a:off x="6903720" y="3840480"/>
            <a:ext cx="4846320" cy="2304288"/>
          </a:xfrm>
          <a:prstGeom prst="roundRect">
            <a:avLst>
              <a:gd name="adj" fmla="val 3968"/>
            </a:avLst>
          </a:prstGeom>
          <a:solidFill>
            <a:schemeClr val="tx2"/>
          </a:solidFill>
          <a:ln w="19050">
            <a:solidFill>
              <a:schemeClr val="accent1"/>
            </a:solidFill>
            <a:prstDash val="solid"/>
          </a:ln>
        </p:spPr>
      </p:sp>
      <p:pic>
        <p:nvPicPr>
          <p:cNvPr id="12" name="cover shot login" descr="CampusHire login page">    </p:cNvPr>
          <p:cNvPicPr>
            <a:picLocks noChangeAspect="1"/>
          </p:cNvPicPr>
          <p:nvPr/>
        </p:nvPicPr>
        <p:blipFill>
          <a:blip r:embed="rId2"/>
          <a:srcRect l="0" r="0" t="0" b="0"/>
          <a:stretch/>
        </p:blipFill>
        <p:spPr>
          <a:xfrm>
            <a:off x="6903720" y="3840480"/>
            <a:ext cx="4846320" cy="23042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Problem with Manual Placement</a:t>
            </a:r>
            <a:endParaRPr lang="en-US" sz="3400" dirty="0"/>
          </a:p>
        </p:txBody>
      </p:sp>
      <p:sp>
        <p:nvSpPr>
          <p:cNvPr id="3" name="problem card 1"/>
          <p:cNvSpPr/>
          <p:nvPr/>
        </p:nvSpPr>
        <p:spPr>
          <a:xfrm>
            <a:off x="548640" y="1463040"/>
            <a:ext cx="5440680" cy="2194560"/>
          </a:xfrm>
          <a:prstGeom prst="roundRect">
            <a:avLst>
              <a:gd name="adj" fmla="val 5000"/>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4" name="problem 1 circle"/>
          <p:cNvSpPr/>
          <p:nvPr/>
        </p:nvSpPr>
        <p:spPr>
          <a:xfrm>
            <a:off x="868680" y="1828800"/>
            <a:ext cx="731520" cy="731520"/>
          </a:xfrm>
          <a:prstGeom prst="ellipse">
            <a:avLst/>
          </a:prstGeom>
          <a:solidFill>
            <a:schemeClr val="accent1"/>
          </a:solidFill>
          <a:ln w="6350">
            <a:solidFill>
              <a:schemeClr val="accent1"/>
            </a:solidFill>
            <a:prstDash val="solid"/>
          </a:ln>
        </p:spPr>
      </p:sp>
      <p:pic>
        <p:nvPicPr>
          <p:cNvPr id="5" name="problem 1 glyph" descr="problem 1">    </p:cNvPr>
          <p:cNvPicPr>
            <a:picLocks noChangeAspect="1"/>
          </p:cNvPicPr>
          <p:nvPr/>
        </p:nvPicPr>
        <p:blipFill>
          <a:blip r:embed="rId1"/>
          <a:stretch>
            <a:fillRect/>
          </a:stretch>
        </p:blipFill>
        <p:spPr>
          <a:xfrm>
            <a:off x="1058875" y="2018995"/>
            <a:ext cx="351130" cy="351130"/>
          </a:xfrm>
          <a:prstGeom prst="rect">
            <a:avLst/>
          </a:prstGeom>
        </p:spPr>
      </p:pic>
      <p:sp>
        <p:nvSpPr>
          <p:cNvPr id="6" name="problem title 1"/>
          <p:cNvSpPr txBox="1"/>
          <p:nvPr/>
        </p:nvSpPr>
        <p:spPr>
          <a:xfrm>
            <a:off x="1828800" y="1783080"/>
            <a:ext cx="3931920" cy="457200"/>
          </a:xfrm>
          <a:prstGeom prst="rect">
            <a:avLst/>
          </a:prstGeom>
          <a:noFill/>
          <a:ln/>
        </p:spPr>
        <p:txBody>
          <a:bodyPr wrap="square" lIns="0" tIns="0" rIns="0" bIns="0" rtlCol="0" anchor="ctr"/>
          <a:lstStyle/>
          <a:p>
            <a:pPr indent="0" marL="0">
              <a:buNone/>
            </a:pPr>
            <a:r>
              <a:rPr lang="en-US" sz="2200" b="1" dirty="0">
                <a:solidFill>
                  <a:schemeClr val="tx2"/>
                </a:solidFill>
              </a:rPr>
              <a:t>Fragmented records</a:t>
            </a:r>
            <a:endParaRPr lang="en-US" sz="2200" dirty="0"/>
          </a:p>
        </p:txBody>
      </p:sp>
      <p:sp>
        <p:nvSpPr>
          <p:cNvPr id="7" name="problem text 1"/>
          <p:cNvSpPr txBox="1"/>
          <p:nvPr/>
        </p:nvSpPr>
        <p:spPr>
          <a:xfrm>
            <a:off x="1828800" y="2331720"/>
            <a:ext cx="3931920" cy="1097280"/>
          </a:xfrm>
          <a:prstGeom prst="rect">
            <a:avLst/>
          </a:prstGeom>
          <a:noFill/>
          <a:ln/>
        </p:spPr>
        <p:txBody>
          <a:bodyPr wrap="square" lIns="0" tIns="0" rIns="0" bIns="0" rtlCol="0" anchor="t"/>
          <a:lstStyle/>
          <a:p>
            <a:pPr indent="0" marL="0">
              <a:buNone/>
            </a:pPr>
            <a:r>
              <a:rPr lang="en-US" sz="1600" dirty="0">
                <a:solidFill>
                  <a:schemeClr val="tx1"/>
                </a:solidFill>
              </a:rPr>
              <a:t>Spreadsheets, e-mail circulars and notice boards give inconsistent data and unverified CGPA claims.</a:t>
            </a:r>
            <a:endParaRPr lang="en-US" sz="1600" dirty="0"/>
          </a:p>
        </p:txBody>
      </p:sp>
      <p:sp>
        <p:nvSpPr>
          <p:cNvPr id="8" name="problem card 2"/>
          <p:cNvSpPr/>
          <p:nvPr/>
        </p:nvSpPr>
        <p:spPr>
          <a:xfrm>
            <a:off x="6172200" y="1463040"/>
            <a:ext cx="5440680" cy="2194560"/>
          </a:xfrm>
          <a:prstGeom prst="roundRect">
            <a:avLst>
              <a:gd name="adj" fmla="val 5000"/>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9" name="problem 2 circle"/>
          <p:cNvSpPr/>
          <p:nvPr/>
        </p:nvSpPr>
        <p:spPr>
          <a:xfrm>
            <a:off x="6492240" y="1828800"/>
            <a:ext cx="731520" cy="731520"/>
          </a:xfrm>
          <a:prstGeom prst="ellipse">
            <a:avLst/>
          </a:prstGeom>
          <a:solidFill>
            <a:schemeClr val="accent3"/>
          </a:solidFill>
          <a:ln w="6350">
            <a:solidFill>
              <a:schemeClr val="accent3"/>
            </a:solidFill>
            <a:prstDash val="solid"/>
          </a:ln>
        </p:spPr>
      </p:sp>
      <p:pic>
        <p:nvPicPr>
          <p:cNvPr id="10" name="problem 2 glyph" descr="problem 2">    </p:cNvPr>
          <p:cNvPicPr>
            <a:picLocks noChangeAspect="1"/>
          </p:cNvPicPr>
          <p:nvPr/>
        </p:nvPicPr>
        <p:blipFill>
          <a:blip r:embed="rId2"/>
          <a:stretch>
            <a:fillRect/>
          </a:stretch>
        </p:blipFill>
        <p:spPr>
          <a:xfrm>
            <a:off x="6682435" y="2018995"/>
            <a:ext cx="351130" cy="351130"/>
          </a:xfrm>
          <a:prstGeom prst="rect">
            <a:avLst/>
          </a:prstGeom>
        </p:spPr>
      </p:pic>
      <p:sp>
        <p:nvSpPr>
          <p:cNvPr id="11" name="problem title 2"/>
          <p:cNvSpPr txBox="1"/>
          <p:nvPr/>
        </p:nvSpPr>
        <p:spPr>
          <a:xfrm>
            <a:off x="7452360" y="1783080"/>
            <a:ext cx="3931920" cy="457200"/>
          </a:xfrm>
          <a:prstGeom prst="rect">
            <a:avLst/>
          </a:prstGeom>
          <a:noFill/>
          <a:ln/>
        </p:spPr>
        <p:txBody>
          <a:bodyPr wrap="square" lIns="0" tIns="0" rIns="0" bIns="0" rtlCol="0" anchor="ctr"/>
          <a:lstStyle/>
          <a:p>
            <a:pPr indent="0" marL="0">
              <a:buNone/>
            </a:pPr>
            <a:r>
              <a:rPr lang="en-US" sz="2200" b="1" dirty="0">
                <a:solidFill>
                  <a:schemeClr val="tx2"/>
                </a:solidFill>
              </a:rPr>
              <a:t>Manual eligibility screening</a:t>
            </a:r>
            <a:endParaRPr lang="en-US" sz="2200" dirty="0"/>
          </a:p>
        </p:txBody>
      </p:sp>
      <p:sp>
        <p:nvSpPr>
          <p:cNvPr id="12" name="problem text 2"/>
          <p:cNvSpPr txBox="1"/>
          <p:nvPr/>
        </p:nvSpPr>
        <p:spPr>
          <a:xfrm>
            <a:off x="7452360" y="2331720"/>
            <a:ext cx="3931920" cy="1097280"/>
          </a:xfrm>
          <a:prstGeom prst="rect">
            <a:avLst/>
          </a:prstGeom>
          <a:noFill/>
          <a:ln/>
        </p:spPr>
        <p:txBody>
          <a:bodyPr wrap="square" lIns="0" tIns="0" rIns="0" bIns="0" rtlCol="0" anchor="t"/>
          <a:lstStyle/>
          <a:p>
            <a:pPr indent="0" marL="0">
              <a:buNone/>
            </a:pPr>
            <a:r>
              <a:rPr lang="en-US" sz="1600" dirty="0">
                <a:solidFill>
                  <a:schemeClr val="tx1"/>
                </a:solidFill>
              </a:rPr>
              <a:t>Matching students to cut-offs by hand is slow for the placement officer and error-prone.</a:t>
            </a:r>
            <a:endParaRPr lang="en-US" sz="1600" dirty="0"/>
          </a:p>
        </p:txBody>
      </p:sp>
      <p:sp>
        <p:nvSpPr>
          <p:cNvPr id="13" name="problem card 3"/>
          <p:cNvSpPr/>
          <p:nvPr/>
        </p:nvSpPr>
        <p:spPr>
          <a:xfrm>
            <a:off x="548640" y="3886200"/>
            <a:ext cx="5440680" cy="2194560"/>
          </a:xfrm>
          <a:prstGeom prst="roundRect">
            <a:avLst>
              <a:gd name="adj" fmla="val 5000"/>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14" name="problem 3 circle"/>
          <p:cNvSpPr/>
          <p:nvPr/>
        </p:nvSpPr>
        <p:spPr>
          <a:xfrm>
            <a:off x="868680" y="4251960"/>
            <a:ext cx="731520" cy="731520"/>
          </a:xfrm>
          <a:prstGeom prst="ellipse">
            <a:avLst/>
          </a:prstGeom>
          <a:solidFill>
            <a:schemeClr val="accent2"/>
          </a:solidFill>
          <a:ln w="6350">
            <a:solidFill>
              <a:schemeClr val="accent2"/>
            </a:solidFill>
            <a:prstDash val="solid"/>
          </a:ln>
        </p:spPr>
      </p:sp>
      <p:pic>
        <p:nvPicPr>
          <p:cNvPr id="15" name="problem 3 glyph" descr="problem 3">    </p:cNvPr>
          <p:cNvPicPr>
            <a:picLocks noChangeAspect="1"/>
          </p:cNvPicPr>
          <p:nvPr/>
        </p:nvPicPr>
        <p:blipFill>
          <a:blip r:embed="rId3"/>
          <a:stretch>
            <a:fillRect/>
          </a:stretch>
        </p:blipFill>
        <p:spPr>
          <a:xfrm>
            <a:off x="1058875" y="4442155"/>
            <a:ext cx="351130" cy="351130"/>
          </a:xfrm>
          <a:prstGeom prst="rect">
            <a:avLst/>
          </a:prstGeom>
        </p:spPr>
      </p:pic>
      <p:sp>
        <p:nvSpPr>
          <p:cNvPr id="16" name="problem title 3"/>
          <p:cNvSpPr txBox="1"/>
          <p:nvPr/>
        </p:nvSpPr>
        <p:spPr>
          <a:xfrm>
            <a:off x="1828800" y="4206240"/>
            <a:ext cx="3931920" cy="457200"/>
          </a:xfrm>
          <a:prstGeom prst="rect">
            <a:avLst/>
          </a:prstGeom>
          <a:noFill/>
          <a:ln/>
        </p:spPr>
        <p:txBody>
          <a:bodyPr wrap="square" lIns="0" tIns="0" rIns="0" bIns="0" rtlCol="0" anchor="ctr"/>
          <a:lstStyle/>
          <a:p>
            <a:pPr indent="0" marL="0">
              <a:buNone/>
            </a:pPr>
            <a:r>
              <a:rPr lang="en-US" sz="2200" b="1" dirty="0">
                <a:solidFill>
                  <a:schemeClr val="tx2"/>
                </a:solidFill>
              </a:rPr>
              <a:t>No status visibility</a:t>
            </a:r>
            <a:endParaRPr lang="en-US" sz="2200" dirty="0"/>
          </a:p>
        </p:txBody>
      </p:sp>
      <p:sp>
        <p:nvSpPr>
          <p:cNvPr id="17" name="problem text 3"/>
          <p:cNvSpPr txBox="1"/>
          <p:nvPr/>
        </p:nvSpPr>
        <p:spPr>
          <a:xfrm>
            <a:off x="1828800" y="4754880"/>
            <a:ext cx="3931920" cy="1097280"/>
          </a:xfrm>
          <a:prstGeom prst="rect">
            <a:avLst/>
          </a:prstGeom>
          <a:noFill/>
          <a:ln/>
        </p:spPr>
        <p:txBody>
          <a:bodyPr wrap="square" lIns="0" tIns="0" rIns="0" bIns="0" rtlCol="0" anchor="t"/>
          <a:lstStyle/>
          <a:p>
            <a:pPr indent="0" marL="0">
              <a:buNone/>
            </a:pPr>
            <a:r>
              <a:rPr lang="en-US" sz="1600" dirty="0">
                <a:solidFill>
                  <a:schemeClr val="tx1"/>
                </a:solidFill>
              </a:rPr>
              <a:t>Candidates cannot see where their application stands or the recruiter's remarks.</a:t>
            </a:r>
            <a:endParaRPr lang="en-US" sz="1600" dirty="0"/>
          </a:p>
        </p:txBody>
      </p:sp>
      <p:sp>
        <p:nvSpPr>
          <p:cNvPr id="18" name="problem card 4"/>
          <p:cNvSpPr/>
          <p:nvPr/>
        </p:nvSpPr>
        <p:spPr>
          <a:xfrm>
            <a:off x="6172200" y="3886200"/>
            <a:ext cx="5440680" cy="2194560"/>
          </a:xfrm>
          <a:prstGeom prst="roundRect">
            <a:avLst>
              <a:gd name="adj" fmla="val 5000"/>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19" name="problem 4 circle"/>
          <p:cNvSpPr/>
          <p:nvPr/>
        </p:nvSpPr>
        <p:spPr>
          <a:xfrm>
            <a:off x="6492240" y="4251960"/>
            <a:ext cx="731520" cy="731520"/>
          </a:xfrm>
          <a:prstGeom prst="ellipse">
            <a:avLst/>
          </a:prstGeom>
          <a:solidFill>
            <a:schemeClr val="accent5"/>
          </a:solidFill>
          <a:ln w="6350">
            <a:solidFill>
              <a:schemeClr val="accent5"/>
            </a:solidFill>
            <a:prstDash val="solid"/>
          </a:ln>
        </p:spPr>
      </p:sp>
      <p:pic>
        <p:nvPicPr>
          <p:cNvPr id="20" name="problem 4 glyph" descr="problem 4">    </p:cNvPr>
          <p:cNvPicPr>
            <a:picLocks noChangeAspect="1"/>
          </p:cNvPicPr>
          <p:nvPr/>
        </p:nvPicPr>
        <p:blipFill>
          <a:blip r:embed="rId4"/>
          <a:stretch>
            <a:fillRect/>
          </a:stretch>
        </p:blipFill>
        <p:spPr>
          <a:xfrm>
            <a:off x="6682435" y="4442155"/>
            <a:ext cx="351130" cy="351130"/>
          </a:xfrm>
          <a:prstGeom prst="rect">
            <a:avLst/>
          </a:prstGeom>
        </p:spPr>
      </p:pic>
      <p:sp>
        <p:nvSpPr>
          <p:cNvPr id="21" name="problem title 4"/>
          <p:cNvSpPr txBox="1"/>
          <p:nvPr/>
        </p:nvSpPr>
        <p:spPr>
          <a:xfrm>
            <a:off x="7452360" y="4206240"/>
            <a:ext cx="3931920" cy="457200"/>
          </a:xfrm>
          <a:prstGeom prst="rect">
            <a:avLst/>
          </a:prstGeom>
          <a:noFill/>
          <a:ln/>
        </p:spPr>
        <p:txBody>
          <a:bodyPr wrap="square" lIns="0" tIns="0" rIns="0" bIns="0" rtlCol="0" anchor="ctr"/>
          <a:lstStyle/>
          <a:p>
            <a:pPr indent="0" marL="0">
              <a:buNone/>
            </a:pPr>
            <a:r>
              <a:rPr lang="en-US" sz="2200" b="1" dirty="0">
                <a:solidFill>
                  <a:schemeClr val="tx2"/>
                </a:solidFill>
              </a:rPr>
              <a:t>Weak data separation</a:t>
            </a:r>
            <a:endParaRPr lang="en-US" sz="2200" dirty="0"/>
          </a:p>
        </p:txBody>
      </p:sp>
      <p:sp>
        <p:nvSpPr>
          <p:cNvPr id="22" name="problem text 4"/>
          <p:cNvSpPr txBox="1"/>
          <p:nvPr/>
        </p:nvSpPr>
        <p:spPr>
          <a:xfrm>
            <a:off x="7452360" y="4754880"/>
            <a:ext cx="3931920" cy="1097280"/>
          </a:xfrm>
          <a:prstGeom prst="rect">
            <a:avLst/>
          </a:prstGeom>
          <a:noFill/>
          <a:ln/>
        </p:spPr>
        <p:txBody>
          <a:bodyPr wrap="square" lIns="0" tIns="0" rIns="0" bIns="0" rtlCol="0" anchor="t"/>
          <a:lstStyle/>
          <a:p>
            <a:pPr indent="0" marL="0">
              <a:buNone/>
            </a:pPr>
            <a:r>
              <a:rPr lang="en-US" sz="1600" dirty="0">
                <a:solidFill>
                  <a:schemeClr val="tx1"/>
                </a:solidFill>
              </a:rPr>
              <a:t>A shared file has no role-based separation of confidential student data.</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Proposed Solution: Three Self-Service Roles</a:t>
            </a:r>
            <a:endParaRPr lang="en-US" sz="3400" dirty="0"/>
          </a:p>
        </p:txBody>
      </p:sp>
      <p:sp>
        <p:nvSpPr>
          <p:cNvPr id="3" name="actor card Student"/>
          <p:cNvSpPr/>
          <p:nvPr/>
        </p:nvSpPr>
        <p:spPr>
          <a:xfrm>
            <a:off x="548640" y="1417320"/>
            <a:ext cx="3566160" cy="3246120"/>
          </a:xfrm>
          <a:prstGeom prst="roundRect">
            <a:avLst>
              <a:gd name="adj" fmla="val 3380"/>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4" name="Student circle"/>
          <p:cNvSpPr/>
          <p:nvPr/>
        </p:nvSpPr>
        <p:spPr>
          <a:xfrm>
            <a:off x="822960" y="1645920"/>
            <a:ext cx="685800" cy="685800"/>
          </a:xfrm>
          <a:prstGeom prst="ellipse">
            <a:avLst/>
          </a:prstGeom>
          <a:solidFill>
            <a:schemeClr val="accent1"/>
          </a:solidFill>
          <a:ln w="6350">
            <a:solidFill>
              <a:schemeClr val="accent1"/>
            </a:solidFill>
            <a:prstDash val="solid"/>
          </a:ln>
        </p:spPr>
      </p:sp>
      <p:pic>
        <p:nvPicPr>
          <p:cNvPr id="5" name="Student glyph" descr="Student">    </p:cNvPr>
          <p:cNvPicPr>
            <a:picLocks noChangeAspect="1"/>
          </p:cNvPicPr>
          <p:nvPr/>
        </p:nvPicPr>
        <p:blipFill>
          <a:blip r:embed="rId1"/>
          <a:stretch>
            <a:fillRect/>
          </a:stretch>
        </p:blipFill>
        <p:spPr>
          <a:xfrm>
            <a:off x="1001268" y="1824228"/>
            <a:ext cx="329184" cy="329184"/>
          </a:xfrm>
          <a:prstGeom prst="rect">
            <a:avLst/>
          </a:prstGeom>
        </p:spPr>
      </p:pic>
      <p:sp>
        <p:nvSpPr>
          <p:cNvPr id="6" name="actor title Student"/>
          <p:cNvSpPr txBox="1"/>
          <p:nvPr/>
        </p:nvSpPr>
        <p:spPr>
          <a:xfrm>
            <a:off x="1645920" y="1645920"/>
            <a:ext cx="2377440" cy="685800"/>
          </a:xfrm>
          <a:prstGeom prst="rect">
            <a:avLst/>
          </a:prstGeom>
          <a:noFill/>
          <a:ln/>
        </p:spPr>
        <p:txBody>
          <a:bodyPr wrap="square" lIns="0" tIns="0" rIns="0" bIns="0" rtlCol="0" anchor="ctr"/>
          <a:lstStyle/>
          <a:p>
            <a:pPr indent="0" marL="0">
              <a:buNone/>
            </a:pPr>
            <a:r>
              <a:rPr lang="en-US" sz="1900" b="1" dirty="0">
                <a:solidFill>
                  <a:schemeClr val="tx2"/>
                </a:solidFill>
              </a:rPr>
              <a:t>Student</a:t>
            </a:r>
            <a:endParaRPr lang="en-US" sz="1900" dirty="0"/>
          </a:p>
        </p:txBody>
      </p:sp>
      <p:sp>
        <p:nvSpPr>
          <p:cNvPr id="7" name="actor list Student"/>
          <p:cNvSpPr txBox="1"/>
          <p:nvPr/>
        </p:nvSpPr>
        <p:spPr>
          <a:xfrm>
            <a:off x="822960" y="2514600"/>
            <a:ext cx="310896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Maintain profile &amp; CGPA</a:t>
            </a:r>
            <a:endParaRPr lang="en-US" sz="1600" dirty="0"/>
          </a:p>
          <a:p>
            <a:pPr marL="342900" indent="-342900">
              <a:spcAft>
                <a:spcPts val="1000"/>
              </a:spcAft>
              <a:buSzPct val="100000"/>
              <a:buChar char="•"/>
            </a:pPr>
            <a:r>
              <a:rPr lang="en-US" sz="1600" dirty="0">
                <a:solidFill>
                  <a:schemeClr val="tx1"/>
                </a:solidFill>
              </a:rPr>
              <a:t>See only eligible postings</a:t>
            </a:r>
            <a:endParaRPr lang="en-US" sz="1600" dirty="0"/>
          </a:p>
          <a:p>
            <a:pPr marL="342900" indent="-342900">
              <a:spcAft>
                <a:spcPts val="1000"/>
              </a:spcAft>
              <a:buSzPct val="100000"/>
              <a:buChar char="•"/>
            </a:pPr>
            <a:r>
              <a:rPr lang="en-US" sz="1600" dirty="0">
                <a:solidFill>
                  <a:schemeClr val="tx1"/>
                </a:solidFill>
              </a:rPr>
              <a:t>Apply once per posting</a:t>
            </a:r>
            <a:endParaRPr lang="en-US" sz="1600" dirty="0"/>
          </a:p>
          <a:p>
            <a:pPr marL="342900" indent="-342900">
              <a:spcAft>
                <a:spcPts val="1000"/>
              </a:spcAft>
              <a:buSzPct val="100000"/>
              <a:buChar char="•"/>
            </a:pPr>
            <a:r>
              <a:rPr lang="en-US" sz="1600" dirty="0">
                <a:solidFill>
                  <a:schemeClr val="tx1"/>
                </a:solidFill>
              </a:rPr>
              <a:t>Track status &amp; remarks</a:t>
            </a:r>
            <a:endParaRPr lang="en-US" sz="1600" dirty="0"/>
          </a:p>
        </p:txBody>
      </p:sp>
      <p:sp>
        <p:nvSpPr>
          <p:cNvPr id="8" name="actor card Company Recruiter"/>
          <p:cNvSpPr/>
          <p:nvPr/>
        </p:nvSpPr>
        <p:spPr>
          <a:xfrm>
            <a:off x="4297680" y="1417320"/>
            <a:ext cx="3566160" cy="3246120"/>
          </a:xfrm>
          <a:prstGeom prst="roundRect">
            <a:avLst>
              <a:gd name="adj" fmla="val 3380"/>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9" name="Company Recruiter circle"/>
          <p:cNvSpPr/>
          <p:nvPr/>
        </p:nvSpPr>
        <p:spPr>
          <a:xfrm>
            <a:off x="4572000" y="1645920"/>
            <a:ext cx="685800" cy="685800"/>
          </a:xfrm>
          <a:prstGeom prst="ellipse">
            <a:avLst/>
          </a:prstGeom>
          <a:solidFill>
            <a:schemeClr val="accent3"/>
          </a:solidFill>
          <a:ln w="6350">
            <a:solidFill>
              <a:schemeClr val="accent3"/>
            </a:solidFill>
            <a:prstDash val="solid"/>
          </a:ln>
        </p:spPr>
      </p:sp>
      <p:pic>
        <p:nvPicPr>
          <p:cNvPr id="10" name="Company Recruiter glyph" descr="Company Recruiter">    </p:cNvPr>
          <p:cNvPicPr>
            <a:picLocks noChangeAspect="1"/>
          </p:cNvPicPr>
          <p:nvPr/>
        </p:nvPicPr>
        <p:blipFill>
          <a:blip r:embed="rId2"/>
          <a:stretch>
            <a:fillRect/>
          </a:stretch>
        </p:blipFill>
        <p:spPr>
          <a:xfrm>
            <a:off x="4750308" y="1824228"/>
            <a:ext cx="329184" cy="329184"/>
          </a:xfrm>
          <a:prstGeom prst="rect">
            <a:avLst/>
          </a:prstGeom>
        </p:spPr>
      </p:pic>
      <p:sp>
        <p:nvSpPr>
          <p:cNvPr id="11" name="actor title Company Recruiter"/>
          <p:cNvSpPr txBox="1"/>
          <p:nvPr/>
        </p:nvSpPr>
        <p:spPr>
          <a:xfrm>
            <a:off x="5394960" y="1645920"/>
            <a:ext cx="2377440" cy="685800"/>
          </a:xfrm>
          <a:prstGeom prst="rect">
            <a:avLst/>
          </a:prstGeom>
          <a:noFill/>
          <a:ln/>
        </p:spPr>
        <p:txBody>
          <a:bodyPr wrap="square" lIns="0" tIns="0" rIns="0" bIns="0" rtlCol="0" anchor="ctr"/>
          <a:lstStyle/>
          <a:p>
            <a:pPr indent="0" marL="0">
              <a:buNone/>
            </a:pPr>
            <a:r>
              <a:rPr lang="en-US" sz="1900" b="1" dirty="0">
                <a:solidFill>
                  <a:schemeClr val="tx2"/>
                </a:solidFill>
              </a:rPr>
              <a:t>Company Recruiter</a:t>
            </a:r>
            <a:endParaRPr lang="en-US" sz="1900" dirty="0"/>
          </a:p>
        </p:txBody>
      </p:sp>
      <p:sp>
        <p:nvSpPr>
          <p:cNvPr id="12" name="actor list Company Recruiter"/>
          <p:cNvSpPr txBox="1"/>
          <p:nvPr/>
        </p:nvSpPr>
        <p:spPr>
          <a:xfrm>
            <a:off x="4572000" y="2514600"/>
            <a:ext cx="310896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Register, wait for TPO approval</a:t>
            </a:r>
            <a:endParaRPr lang="en-US" sz="1600" dirty="0"/>
          </a:p>
          <a:p>
            <a:pPr marL="342900" indent="-342900">
              <a:spcAft>
                <a:spcPts val="1000"/>
              </a:spcAft>
              <a:buSzPct val="100000"/>
              <a:buChar char="•"/>
            </a:pPr>
            <a:r>
              <a:rPr lang="en-US" sz="1600" dirty="0">
                <a:solidFill>
                  <a:schemeClr val="tx1"/>
                </a:solidFill>
              </a:rPr>
              <a:t>Post jobs &amp; internships</a:t>
            </a:r>
            <a:endParaRPr lang="en-US" sz="1600" dirty="0"/>
          </a:p>
          <a:p>
            <a:pPr marL="342900" indent="-342900">
              <a:spcAft>
                <a:spcPts val="1000"/>
              </a:spcAft>
              <a:buSzPct val="100000"/>
              <a:buChar char="•"/>
            </a:pPr>
            <a:r>
              <a:rPr lang="en-US" sz="1600" dirty="0">
                <a:solidFill>
                  <a:schemeClr val="tx1"/>
                </a:solidFill>
              </a:rPr>
              <a:t>Review applicants</a:t>
            </a:r>
            <a:endParaRPr lang="en-US" sz="1600" dirty="0"/>
          </a:p>
          <a:p>
            <a:pPr marL="342900" indent="-342900">
              <a:spcAft>
                <a:spcPts val="1000"/>
              </a:spcAft>
              <a:buSzPct val="100000"/>
              <a:buChar char="•"/>
            </a:pPr>
            <a:r>
              <a:rPr lang="en-US" sz="1600" dirty="0">
                <a:solidFill>
                  <a:schemeClr val="tx1"/>
                </a:solidFill>
              </a:rPr>
              <a:t>Update status with remarks</a:t>
            </a:r>
            <a:endParaRPr lang="en-US" sz="1600" dirty="0"/>
          </a:p>
        </p:txBody>
      </p:sp>
      <p:sp>
        <p:nvSpPr>
          <p:cNvPr id="13" name="actor card Placement Officer (TPO)"/>
          <p:cNvSpPr/>
          <p:nvPr/>
        </p:nvSpPr>
        <p:spPr>
          <a:xfrm>
            <a:off x="8046720" y="1417320"/>
            <a:ext cx="3566160" cy="3246120"/>
          </a:xfrm>
          <a:prstGeom prst="roundRect">
            <a:avLst>
              <a:gd name="adj" fmla="val 3380"/>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14" name="Placement Officer (TPO) circle"/>
          <p:cNvSpPr/>
          <p:nvPr/>
        </p:nvSpPr>
        <p:spPr>
          <a:xfrm>
            <a:off x="8321040" y="1645920"/>
            <a:ext cx="685800" cy="685800"/>
          </a:xfrm>
          <a:prstGeom prst="ellipse">
            <a:avLst/>
          </a:prstGeom>
          <a:solidFill>
            <a:schemeClr val="accent2"/>
          </a:solidFill>
          <a:ln w="6350">
            <a:solidFill>
              <a:schemeClr val="accent2"/>
            </a:solidFill>
            <a:prstDash val="solid"/>
          </a:ln>
        </p:spPr>
      </p:sp>
      <p:pic>
        <p:nvPicPr>
          <p:cNvPr id="15" name="Placement Officer (TPO) glyph" descr="Placement Officer (TPO)">    </p:cNvPr>
          <p:cNvPicPr>
            <a:picLocks noChangeAspect="1"/>
          </p:cNvPicPr>
          <p:nvPr/>
        </p:nvPicPr>
        <p:blipFill>
          <a:blip r:embed="rId3"/>
          <a:stretch>
            <a:fillRect/>
          </a:stretch>
        </p:blipFill>
        <p:spPr>
          <a:xfrm>
            <a:off x="8499348" y="1824228"/>
            <a:ext cx="329184" cy="329184"/>
          </a:xfrm>
          <a:prstGeom prst="rect">
            <a:avLst/>
          </a:prstGeom>
        </p:spPr>
      </p:pic>
      <p:sp>
        <p:nvSpPr>
          <p:cNvPr id="16" name="actor title Placement Officer (TPO)"/>
          <p:cNvSpPr txBox="1"/>
          <p:nvPr/>
        </p:nvSpPr>
        <p:spPr>
          <a:xfrm>
            <a:off x="9144000" y="1645920"/>
            <a:ext cx="2377440" cy="685800"/>
          </a:xfrm>
          <a:prstGeom prst="rect">
            <a:avLst/>
          </a:prstGeom>
          <a:noFill/>
          <a:ln/>
        </p:spPr>
        <p:txBody>
          <a:bodyPr wrap="square" lIns="0" tIns="0" rIns="0" bIns="0" rtlCol="0" anchor="ctr"/>
          <a:lstStyle/>
          <a:p>
            <a:pPr indent="0" marL="0">
              <a:buNone/>
            </a:pPr>
            <a:r>
              <a:rPr lang="en-US" sz="1900" b="1" dirty="0">
                <a:solidFill>
                  <a:schemeClr val="tx2"/>
                </a:solidFill>
              </a:rPr>
              <a:t>Placement Officer (TPO)</a:t>
            </a:r>
            <a:endParaRPr lang="en-US" sz="1900" dirty="0"/>
          </a:p>
        </p:txBody>
      </p:sp>
      <p:sp>
        <p:nvSpPr>
          <p:cNvPr id="17" name="actor list Placement Officer (TPO)"/>
          <p:cNvSpPr txBox="1"/>
          <p:nvPr/>
        </p:nvSpPr>
        <p:spPr>
          <a:xfrm>
            <a:off x="8321040" y="2514600"/>
            <a:ext cx="3108960" cy="20116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Approve or reject companies</a:t>
            </a:r>
            <a:endParaRPr lang="en-US" sz="1600" dirty="0"/>
          </a:p>
          <a:p>
            <a:pPr marL="342900" indent="-342900">
              <a:spcAft>
                <a:spcPts val="1000"/>
              </a:spcAft>
              <a:buSzPct val="100000"/>
              <a:buChar char="•"/>
            </a:pPr>
            <a:r>
              <a:rPr lang="en-US" sz="1600" dirty="0">
                <a:solidFill>
                  <a:schemeClr val="tx1"/>
                </a:solidFill>
              </a:rPr>
              <a:t>Manage users</a:t>
            </a:r>
            <a:endParaRPr lang="en-US" sz="1600" dirty="0"/>
          </a:p>
          <a:p>
            <a:pPr marL="342900" indent="-342900">
              <a:spcAft>
                <a:spcPts val="1000"/>
              </a:spcAft>
              <a:buSzPct val="100000"/>
              <a:buChar char="•"/>
            </a:pPr>
            <a:r>
              <a:rPr lang="en-US" sz="1600" dirty="0">
                <a:solidFill>
                  <a:schemeClr val="tx1"/>
                </a:solidFill>
              </a:rPr>
              <a:t>View placement statistics</a:t>
            </a:r>
            <a:endParaRPr lang="en-US" sz="1600" dirty="0"/>
          </a:p>
          <a:p>
            <a:pPr marL="342900" indent="-342900">
              <a:spcAft>
                <a:spcPts val="1000"/>
              </a:spcAft>
              <a:buSzPct val="100000"/>
              <a:buChar char="•"/>
            </a:pPr>
            <a:r>
              <a:rPr lang="en-US" sz="1600" dirty="0">
                <a:solidFill>
                  <a:schemeClr val="tx1"/>
                </a:solidFill>
              </a:rPr>
              <a:t>Oversee the full lifecycle</a:t>
            </a:r>
            <a:endParaRPr lang="en-US" sz="1600" dirty="0"/>
          </a:p>
        </p:txBody>
      </p:sp>
      <p:sp>
        <p:nvSpPr>
          <p:cNvPr id="18" name="differences heading"/>
          <p:cNvSpPr txBox="1"/>
          <p:nvPr/>
        </p:nvSpPr>
        <p:spPr>
          <a:xfrm>
            <a:off x="548640" y="4892040"/>
            <a:ext cx="5486400" cy="365760"/>
          </a:xfrm>
          <a:prstGeom prst="rect">
            <a:avLst/>
          </a:prstGeom>
          <a:noFill/>
          <a:ln/>
        </p:spPr>
        <p:txBody>
          <a:bodyPr wrap="square" lIns="0" tIns="0" rIns="0" bIns="0" rtlCol="0" anchor="ctr"/>
          <a:lstStyle/>
          <a:p>
            <a:pPr indent="0" marL="0">
              <a:buNone/>
            </a:pPr>
            <a:r>
              <a:rPr lang="en-US" sz="1800" b="1" dirty="0">
                <a:solidFill>
                  <a:schemeClr val="tx2"/>
                </a:solidFill>
              </a:rPr>
              <a:t>What makes it different</a:t>
            </a:r>
            <a:endParaRPr lang="en-US" sz="1800" dirty="0"/>
          </a:p>
        </p:txBody>
      </p:sp>
      <p:sp>
        <p:nvSpPr>
          <p:cNvPr id="19" name="chip Recruiter self-service"/>
          <p:cNvSpPr/>
          <p:nvPr/>
        </p:nvSpPr>
        <p:spPr>
          <a:xfrm>
            <a:off x="548640" y="5394960"/>
            <a:ext cx="2651760" cy="548640"/>
          </a:xfrm>
          <a:prstGeom prst="roundRect">
            <a:avLst>
              <a:gd name="adj" fmla="val 16667"/>
            </a:avLst>
          </a:prstGeom>
          <a:solidFill>
            <a:schemeClr val="tx2"/>
          </a:solidFill>
          <a:ln w="6350">
            <a:solidFill>
              <a:schemeClr val="tx2"/>
            </a:solidFill>
            <a:prstDash val="solid"/>
          </a:ln>
        </p:spPr>
      </p:sp>
      <p:sp>
        <p:nvSpPr>
          <p:cNvPr id="20" name="chip label Recruiter self-service"/>
          <p:cNvSpPr txBox="1"/>
          <p:nvPr/>
        </p:nvSpPr>
        <p:spPr>
          <a:xfrm>
            <a:off x="548640" y="5394960"/>
            <a:ext cx="2651760" cy="548640"/>
          </a:xfrm>
          <a:prstGeom prst="rect">
            <a:avLst/>
          </a:prstGeom>
          <a:noFill/>
          <a:ln/>
        </p:spPr>
        <p:txBody>
          <a:bodyPr wrap="square" lIns="381" tIns="381" rIns="381" bIns="381" rtlCol="0" anchor="ctr"/>
          <a:lstStyle/>
          <a:p>
            <a:pPr algn="ctr" indent="0" marL="0">
              <a:buNone/>
            </a:pPr>
            <a:r>
              <a:rPr lang="en-US" sz="1400" b="1" dirty="0">
                <a:solidFill>
                  <a:schemeClr val="bg1"/>
                </a:solidFill>
              </a:rPr>
              <a:t>Recruiter self-service</a:t>
            </a:r>
            <a:endParaRPr lang="en-US" sz="1400" dirty="0"/>
          </a:p>
        </p:txBody>
      </p:sp>
      <p:sp>
        <p:nvSpPr>
          <p:cNvPr id="21" name="chip Server-side eligibility"/>
          <p:cNvSpPr/>
          <p:nvPr/>
        </p:nvSpPr>
        <p:spPr>
          <a:xfrm>
            <a:off x="3364992" y="5394960"/>
            <a:ext cx="2651760" cy="548640"/>
          </a:xfrm>
          <a:prstGeom prst="roundRect">
            <a:avLst>
              <a:gd name="adj" fmla="val 16667"/>
            </a:avLst>
          </a:prstGeom>
          <a:solidFill>
            <a:schemeClr val="tx2"/>
          </a:solidFill>
          <a:ln w="6350">
            <a:solidFill>
              <a:schemeClr val="tx2"/>
            </a:solidFill>
            <a:prstDash val="solid"/>
          </a:ln>
        </p:spPr>
      </p:sp>
      <p:sp>
        <p:nvSpPr>
          <p:cNvPr id="22" name="chip label Server-side eligibility"/>
          <p:cNvSpPr txBox="1"/>
          <p:nvPr/>
        </p:nvSpPr>
        <p:spPr>
          <a:xfrm>
            <a:off x="3364992" y="5394960"/>
            <a:ext cx="2651760" cy="548640"/>
          </a:xfrm>
          <a:prstGeom prst="rect">
            <a:avLst/>
          </a:prstGeom>
          <a:noFill/>
          <a:ln/>
        </p:spPr>
        <p:txBody>
          <a:bodyPr wrap="square" lIns="381" tIns="381" rIns="381" bIns="381" rtlCol="0" anchor="ctr"/>
          <a:lstStyle/>
          <a:p>
            <a:pPr algn="ctr" indent="0" marL="0">
              <a:buNone/>
            </a:pPr>
            <a:r>
              <a:rPr lang="en-US" sz="1400" b="1" dirty="0">
                <a:solidFill>
                  <a:schemeClr val="bg1"/>
                </a:solidFill>
              </a:rPr>
              <a:t>Server-side eligibility</a:t>
            </a:r>
            <a:endParaRPr lang="en-US" sz="1400" dirty="0"/>
          </a:p>
        </p:txBody>
      </p:sp>
      <p:sp>
        <p:nvSpPr>
          <p:cNvPr id="23" name="chip Auditable status lifecycle"/>
          <p:cNvSpPr/>
          <p:nvPr/>
        </p:nvSpPr>
        <p:spPr>
          <a:xfrm>
            <a:off x="6181344" y="5394960"/>
            <a:ext cx="2651760" cy="548640"/>
          </a:xfrm>
          <a:prstGeom prst="roundRect">
            <a:avLst>
              <a:gd name="adj" fmla="val 16667"/>
            </a:avLst>
          </a:prstGeom>
          <a:solidFill>
            <a:schemeClr val="tx2"/>
          </a:solidFill>
          <a:ln w="6350">
            <a:solidFill>
              <a:schemeClr val="tx2"/>
            </a:solidFill>
            <a:prstDash val="solid"/>
          </a:ln>
        </p:spPr>
      </p:sp>
      <p:sp>
        <p:nvSpPr>
          <p:cNvPr id="24" name="chip label Auditable status lifecycle"/>
          <p:cNvSpPr txBox="1"/>
          <p:nvPr/>
        </p:nvSpPr>
        <p:spPr>
          <a:xfrm>
            <a:off x="6181344" y="5394960"/>
            <a:ext cx="2651760" cy="548640"/>
          </a:xfrm>
          <a:prstGeom prst="rect">
            <a:avLst/>
          </a:prstGeom>
          <a:noFill/>
          <a:ln/>
        </p:spPr>
        <p:txBody>
          <a:bodyPr wrap="square" lIns="381" tIns="381" rIns="381" bIns="381" rtlCol="0" anchor="ctr"/>
          <a:lstStyle/>
          <a:p>
            <a:pPr algn="ctr" indent="0" marL="0">
              <a:buNone/>
            </a:pPr>
            <a:r>
              <a:rPr lang="en-US" sz="1400" b="1" dirty="0">
                <a:solidFill>
                  <a:schemeClr val="bg1"/>
                </a:solidFill>
              </a:rPr>
              <a:t>Auditable status lifecycle</a:t>
            </a:r>
            <a:endParaRPr lang="en-US" sz="1400" dirty="0"/>
          </a:p>
        </p:txBody>
      </p:sp>
      <p:sp>
        <p:nvSpPr>
          <p:cNvPr id="25" name="chip Framework-free stack"/>
          <p:cNvSpPr/>
          <p:nvPr/>
        </p:nvSpPr>
        <p:spPr>
          <a:xfrm>
            <a:off x="8997696" y="5394960"/>
            <a:ext cx="2651760" cy="548640"/>
          </a:xfrm>
          <a:prstGeom prst="roundRect">
            <a:avLst>
              <a:gd name="adj" fmla="val 16667"/>
            </a:avLst>
          </a:prstGeom>
          <a:solidFill>
            <a:schemeClr val="tx2"/>
          </a:solidFill>
          <a:ln w="6350">
            <a:solidFill>
              <a:schemeClr val="tx2"/>
            </a:solidFill>
            <a:prstDash val="solid"/>
          </a:ln>
        </p:spPr>
      </p:sp>
      <p:sp>
        <p:nvSpPr>
          <p:cNvPr id="26" name="chip label Framework-free stack"/>
          <p:cNvSpPr txBox="1"/>
          <p:nvPr/>
        </p:nvSpPr>
        <p:spPr>
          <a:xfrm>
            <a:off x="8997696" y="5394960"/>
            <a:ext cx="2651760" cy="548640"/>
          </a:xfrm>
          <a:prstGeom prst="rect">
            <a:avLst/>
          </a:prstGeom>
          <a:noFill/>
          <a:ln/>
        </p:spPr>
        <p:txBody>
          <a:bodyPr wrap="square" lIns="381" tIns="381" rIns="381" bIns="381" rtlCol="0" anchor="ctr"/>
          <a:lstStyle/>
          <a:p>
            <a:pPr algn="ctr" indent="0" marL="0">
              <a:buNone/>
            </a:pPr>
            <a:r>
              <a:rPr lang="en-US" sz="1400" b="1" dirty="0">
                <a:solidFill>
                  <a:schemeClr val="bg1"/>
                </a:solidFill>
              </a:rPr>
              <a:t>Framework-free stack</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Technology Stack</a:t>
            </a:r>
            <a:endParaRPr lang="en-US" sz="3400" dirty="0"/>
          </a:p>
        </p:txBody>
      </p:sp>
      <p:sp>
        <p:nvSpPr>
          <p:cNvPr id="3" name="tech card Core Java"/>
          <p:cNvSpPr/>
          <p:nvPr/>
        </p:nvSpPr>
        <p:spPr>
          <a:xfrm>
            <a:off x="548640" y="1508760"/>
            <a:ext cx="2651760" cy="2011680"/>
          </a:xfrm>
          <a:prstGeom prst="roundRect">
            <a:avLst>
              <a:gd name="adj" fmla="val 545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4" name="Core Java circle"/>
          <p:cNvSpPr/>
          <p:nvPr/>
        </p:nvSpPr>
        <p:spPr>
          <a:xfrm>
            <a:off x="777240" y="1737360"/>
            <a:ext cx="594360" cy="594360"/>
          </a:xfrm>
          <a:prstGeom prst="ellipse">
            <a:avLst/>
          </a:prstGeom>
          <a:solidFill>
            <a:schemeClr val="accent1"/>
          </a:solidFill>
          <a:ln w="6350">
            <a:solidFill>
              <a:schemeClr val="accent1"/>
            </a:solidFill>
            <a:prstDash val="solid"/>
          </a:ln>
        </p:spPr>
      </p:sp>
      <p:pic>
        <p:nvPicPr>
          <p:cNvPr id="5" name="Core Java glyph" descr="Core Java">    </p:cNvPr>
          <p:cNvPicPr>
            <a:picLocks noChangeAspect="1"/>
          </p:cNvPicPr>
          <p:nvPr/>
        </p:nvPicPr>
        <p:blipFill>
          <a:blip r:embed="rId1"/>
          <a:stretch>
            <a:fillRect/>
          </a:stretch>
        </p:blipFill>
        <p:spPr>
          <a:xfrm>
            <a:off x="931774" y="1891894"/>
            <a:ext cx="285293" cy="285293"/>
          </a:xfrm>
          <a:prstGeom prst="rect">
            <a:avLst/>
          </a:prstGeom>
        </p:spPr>
      </p:pic>
      <p:sp>
        <p:nvSpPr>
          <p:cNvPr id="6" name="tech name Core Java"/>
          <p:cNvSpPr txBox="1"/>
          <p:nvPr/>
        </p:nvSpPr>
        <p:spPr>
          <a:xfrm>
            <a:off x="777240" y="2468880"/>
            <a:ext cx="2286000" cy="365760"/>
          </a:xfrm>
          <a:prstGeom prst="rect">
            <a:avLst/>
          </a:prstGeom>
          <a:noFill/>
          <a:ln/>
        </p:spPr>
        <p:txBody>
          <a:bodyPr wrap="square" lIns="0" tIns="0" rIns="0" bIns="0" rtlCol="0" anchor="ctr"/>
          <a:lstStyle/>
          <a:p>
            <a:pPr indent="0" marL="0">
              <a:buNone/>
            </a:pPr>
            <a:r>
              <a:rPr lang="en-US" sz="1700" b="1" dirty="0">
                <a:solidFill>
                  <a:schemeClr val="tx2"/>
                </a:solidFill>
              </a:rPr>
              <a:t>Core Java</a:t>
            </a:r>
            <a:endParaRPr lang="en-US" sz="1700" dirty="0"/>
          </a:p>
        </p:txBody>
      </p:sp>
      <p:sp>
        <p:nvSpPr>
          <p:cNvPr id="7" name="tech role Core Java"/>
          <p:cNvSpPr txBox="1"/>
          <p:nvPr/>
        </p:nvSpPr>
        <p:spPr>
          <a:xfrm>
            <a:off x="777240" y="2834640"/>
            <a:ext cx="2286000" cy="594360"/>
          </a:xfrm>
          <a:prstGeom prst="rect">
            <a:avLst/>
          </a:prstGeom>
          <a:noFill/>
          <a:ln/>
        </p:spPr>
        <p:txBody>
          <a:bodyPr wrap="square" lIns="0" tIns="0" rIns="0" bIns="0" rtlCol="0" anchor="t"/>
          <a:lstStyle/>
          <a:p>
            <a:pPr indent="0" marL="0">
              <a:buNone/>
            </a:pPr>
            <a:r>
              <a:rPr lang="en-US" sz="1400" dirty="0">
                <a:solidFill>
                  <a:schemeClr val="tx1"/>
                </a:solidFill>
              </a:rPr>
              <a:t>Models, validation, server-side rules</a:t>
            </a:r>
            <a:endParaRPr lang="en-US" sz="1400" dirty="0"/>
          </a:p>
        </p:txBody>
      </p:sp>
      <p:sp>
        <p:nvSpPr>
          <p:cNvPr id="8" name="tech card Servlets 6.0 &amp; JSP"/>
          <p:cNvSpPr/>
          <p:nvPr/>
        </p:nvSpPr>
        <p:spPr>
          <a:xfrm>
            <a:off x="3355848" y="1508760"/>
            <a:ext cx="2651760" cy="2011680"/>
          </a:xfrm>
          <a:prstGeom prst="roundRect">
            <a:avLst>
              <a:gd name="adj" fmla="val 545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9" name="Servlets 6.0 &amp; JSP circle"/>
          <p:cNvSpPr/>
          <p:nvPr/>
        </p:nvSpPr>
        <p:spPr>
          <a:xfrm>
            <a:off x="3584448" y="1737360"/>
            <a:ext cx="594360" cy="594360"/>
          </a:xfrm>
          <a:prstGeom prst="ellipse">
            <a:avLst/>
          </a:prstGeom>
          <a:solidFill>
            <a:schemeClr val="accent3"/>
          </a:solidFill>
          <a:ln w="6350">
            <a:solidFill>
              <a:schemeClr val="accent3"/>
            </a:solidFill>
            <a:prstDash val="solid"/>
          </a:ln>
        </p:spPr>
      </p:sp>
      <p:pic>
        <p:nvPicPr>
          <p:cNvPr id="10" name="Servlets 6.0 &amp; JSP glyph" descr="Servlets 6.0 &amp; JSP">    </p:cNvPr>
          <p:cNvPicPr>
            <a:picLocks noChangeAspect="1"/>
          </p:cNvPicPr>
          <p:nvPr/>
        </p:nvPicPr>
        <p:blipFill>
          <a:blip r:embed="rId2"/>
          <a:stretch>
            <a:fillRect/>
          </a:stretch>
        </p:blipFill>
        <p:spPr>
          <a:xfrm>
            <a:off x="3738982" y="1891894"/>
            <a:ext cx="285293" cy="285293"/>
          </a:xfrm>
          <a:prstGeom prst="rect">
            <a:avLst/>
          </a:prstGeom>
        </p:spPr>
      </p:pic>
      <p:sp>
        <p:nvSpPr>
          <p:cNvPr id="11" name="tech name Servlets 6.0 &amp;amp; JSP"/>
          <p:cNvSpPr txBox="1"/>
          <p:nvPr/>
        </p:nvSpPr>
        <p:spPr>
          <a:xfrm>
            <a:off x="3584448" y="2468880"/>
            <a:ext cx="2286000" cy="365760"/>
          </a:xfrm>
          <a:prstGeom prst="rect">
            <a:avLst/>
          </a:prstGeom>
          <a:noFill/>
          <a:ln/>
        </p:spPr>
        <p:txBody>
          <a:bodyPr wrap="square" lIns="0" tIns="0" rIns="0" bIns="0" rtlCol="0" anchor="ctr"/>
          <a:lstStyle/>
          <a:p>
            <a:pPr indent="0" marL="0">
              <a:buNone/>
            </a:pPr>
            <a:r>
              <a:rPr lang="en-US" sz="1700" b="1" dirty="0">
                <a:solidFill>
                  <a:schemeClr val="tx2"/>
                </a:solidFill>
              </a:rPr>
              <a:t>Servlets 6.0 &amp; JSP</a:t>
            </a:r>
            <a:endParaRPr lang="en-US" sz="1700" dirty="0"/>
          </a:p>
        </p:txBody>
      </p:sp>
      <p:sp>
        <p:nvSpPr>
          <p:cNvPr id="12" name="tech role Servlets 6.0 &amp;amp; JSP"/>
          <p:cNvSpPr txBox="1"/>
          <p:nvPr/>
        </p:nvSpPr>
        <p:spPr>
          <a:xfrm>
            <a:off x="3584448" y="2834640"/>
            <a:ext cx="2286000" cy="594360"/>
          </a:xfrm>
          <a:prstGeom prst="rect">
            <a:avLst/>
          </a:prstGeom>
          <a:noFill/>
          <a:ln/>
        </p:spPr>
        <p:txBody>
          <a:bodyPr wrap="square" lIns="0" tIns="0" rIns="0" bIns="0" rtlCol="0" anchor="t"/>
          <a:lstStyle/>
          <a:p>
            <a:pPr indent="0" marL="0">
              <a:buNone/>
            </a:pPr>
            <a:r>
              <a:rPr lang="en-US" sz="1400" dirty="0">
                <a:solidFill>
                  <a:schemeClr val="tx1"/>
                </a:solidFill>
              </a:rPr>
              <a:t>Request handling and dynamic views</a:t>
            </a:r>
            <a:endParaRPr lang="en-US" sz="1400" dirty="0"/>
          </a:p>
        </p:txBody>
      </p:sp>
      <p:sp>
        <p:nvSpPr>
          <p:cNvPr id="13" name="tech card JDBC + DAO"/>
          <p:cNvSpPr/>
          <p:nvPr/>
        </p:nvSpPr>
        <p:spPr>
          <a:xfrm>
            <a:off x="6163056" y="1508760"/>
            <a:ext cx="2651760" cy="2011680"/>
          </a:xfrm>
          <a:prstGeom prst="roundRect">
            <a:avLst>
              <a:gd name="adj" fmla="val 545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14" name="JDBC + DAO circle"/>
          <p:cNvSpPr/>
          <p:nvPr/>
        </p:nvSpPr>
        <p:spPr>
          <a:xfrm>
            <a:off x="6391656" y="1737360"/>
            <a:ext cx="594360" cy="594360"/>
          </a:xfrm>
          <a:prstGeom prst="ellipse">
            <a:avLst/>
          </a:prstGeom>
          <a:solidFill>
            <a:schemeClr val="accent2"/>
          </a:solidFill>
          <a:ln w="6350">
            <a:solidFill>
              <a:schemeClr val="accent2"/>
            </a:solidFill>
            <a:prstDash val="solid"/>
          </a:ln>
        </p:spPr>
      </p:sp>
      <p:pic>
        <p:nvPicPr>
          <p:cNvPr id="15" name="JDBC + DAO glyph" descr="JDBC + DAO">    </p:cNvPr>
          <p:cNvPicPr>
            <a:picLocks noChangeAspect="1"/>
          </p:cNvPicPr>
          <p:nvPr/>
        </p:nvPicPr>
        <p:blipFill>
          <a:blip r:embed="rId3"/>
          <a:stretch>
            <a:fillRect/>
          </a:stretch>
        </p:blipFill>
        <p:spPr>
          <a:xfrm>
            <a:off x="6546190" y="1891894"/>
            <a:ext cx="285293" cy="285293"/>
          </a:xfrm>
          <a:prstGeom prst="rect">
            <a:avLst/>
          </a:prstGeom>
        </p:spPr>
      </p:pic>
      <p:sp>
        <p:nvSpPr>
          <p:cNvPr id="16" name="tech name JDBC + DAO"/>
          <p:cNvSpPr txBox="1"/>
          <p:nvPr/>
        </p:nvSpPr>
        <p:spPr>
          <a:xfrm>
            <a:off x="6391656" y="2468880"/>
            <a:ext cx="2286000" cy="365760"/>
          </a:xfrm>
          <a:prstGeom prst="rect">
            <a:avLst/>
          </a:prstGeom>
          <a:noFill/>
          <a:ln/>
        </p:spPr>
        <p:txBody>
          <a:bodyPr wrap="square" lIns="0" tIns="0" rIns="0" bIns="0" rtlCol="0" anchor="ctr"/>
          <a:lstStyle/>
          <a:p>
            <a:pPr indent="0" marL="0">
              <a:buNone/>
            </a:pPr>
            <a:r>
              <a:rPr lang="en-US" sz="1700" b="1" dirty="0">
                <a:solidFill>
                  <a:schemeClr val="tx2"/>
                </a:solidFill>
              </a:rPr>
              <a:t>JDBC + DAO</a:t>
            </a:r>
            <a:endParaRPr lang="en-US" sz="1700" dirty="0"/>
          </a:p>
        </p:txBody>
      </p:sp>
      <p:sp>
        <p:nvSpPr>
          <p:cNvPr id="17" name="tech role JDBC + DAO"/>
          <p:cNvSpPr txBox="1"/>
          <p:nvPr/>
        </p:nvSpPr>
        <p:spPr>
          <a:xfrm>
            <a:off x="6391656" y="2834640"/>
            <a:ext cx="2286000" cy="594360"/>
          </a:xfrm>
          <a:prstGeom prst="rect">
            <a:avLst/>
          </a:prstGeom>
          <a:noFill/>
          <a:ln/>
        </p:spPr>
        <p:txBody>
          <a:bodyPr wrap="square" lIns="0" tIns="0" rIns="0" bIns="0" rtlCol="0" anchor="t"/>
          <a:lstStyle/>
          <a:p>
            <a:pPr indent="0" marL="0">
              <a:buNone/>
            </a:pPr>
            <a:r>
              <a:rPr lang="en-US" sz="1400" dirty="0">
                <a:solidFill>
                  <a:schemeClr val="tx1"/>
                </a:solidFill>
              </a:rPr>
              <a:t>Prepared statements, no ORM</a:t>
            </a:r>
            <a:endParaRPr lang="en-US" sz="1400" dirty="0"/>
          </a:p>
        </p:txBody>
      </p:sp>
      <p:sp>
        <p:nvSpPr>
          <p:cNvPr id="18" name="tech card MySQL 8.0 / TiDB Cloud"/>
          <p:cNvSpPr/>
          <p:nvPr/>
        </p:nvSpPr>
        <p:spPr>
          <a:xfrm>
            <a:off x="8970264" y="1508760"/>
            <a:ext cx="2651760" cy="2011680"/>
          </a:xfrm>
          <a:prstGeom prst="roundRect">
            <a:avLst>
              <a:gd name="adj" fmla="val 545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19" name="MySQL 8.0 / TiDB Cloud circle"/>
          <p:cNvSpPr/>
          <p:nvPr/>
        </p:nvSpPr>
        <p:spPr>
          <a:xfrm>
            <a:off x="9198864" y="1737360"/>
            <a:ext cx="594360" cy="594360"/>
          </a:xfrm>
          <a:prstGeom prst="ellipse">
            <a:avLst/>
          </a:prstGeom>
          <a:solidFill>
            <a:schemeClr val="accent4"/>
          </a:solidFill>
          <a:ln w="6350">
            <a:solidFill>
              <a:schemeClr val="accent4"/>
            </a:solidFill>
            <a:prstDash val="solid"/>
          </a:ln>
        </p:spPr>
      </p:sp>
      <p:pic>
        <p:nvPicPr>
          <p:cNvPr id="20" name="MySQL 8.0 / TiDB Cloud glyph" descr="MySQL 8.0 / TiDB Cloud">    </p:cNvPr>
          <p:cNvPicPr>
            <a:picLocks noChangeAspect="1"/>
          </p:cNvPicPr>
          <p:nvPr/>
        </p:nvPicPr>
        <p:blipFill>
          <a:blip r:embed="rId4"/>
          <a:stretch>
            <a:fillRect/>
          </a:stretch>
        </p:blipFill>
        <p:spPr>
          <a:xfrm>
            <a:off x="9353398" y="1891894"/>
            <a:ext cx="285293" cy="285293"/>
          </a:xfrm>
          <a:prstGeom prst="rect">
            <a:avLst/>
          </a:prstGeom>
        </p:spPr>
      </p:pic>
      <p:sp>
        <p:nvSpPr>
          <p:cNvPr id="21" name="tech name MySQL 8.0 / TiDB Cloud"/>
          <p:cNvSpPr txBox="1"/>
          <p:nvPr/>
        </p:nvSpPr>
        <p:spPr>
          <a:xfrm>
            <a:off x="9198864" y="2468880"/>
            <a:ext cx="2286000" cy="365760"/>
          </a:xfrm>
          <a:prstGeom prst="rect">
            <a:avLst/>
          </a:prstGeom>
          <a:noFill/>
          <a:ln/>
        </p:spPr>
        <p:txBody>
          <a:bodyPr wrap="square" lIns="0" tIns="0" rIns="0" bIns="0" rtlCol="0" anchor="ctr"/>
          <a:lstStyle/>
          <a:p>
            <a:pPr indent="0" marL="0">
              <a:buNone/>
            </a:pPr>
            <a:r>
              <a:rPr lang="en-US" sz="1700" b="1" dirty="0">
                <a:solidFill>
                  <a:schemeClr val="tx2"/>
                </a:solidFill>
              </a:rPr>
              <a:t>MySQL 8.0 / TiDB Cloud</a:t>
            </a:r>
            <a:endParaRPr lang="en-US" sz="1700" dirty="0"/>
          </a:p>
        </p:txBody>
      </p:sp>
      <p:sp>
        <p:nvSpPr>
          <p:cNvPr id="22" name="tech role MySQL 8.0 / TiDB Cloud"/>
          <p:cNvSpPr txBox="1"/>
          <p:nvPr/>
        </p:nvSpPr>
        <p:spPr>
          <a:xfrm>
            <a:off x="9198864" y="2834640"/>
            <a:ext cx="2286000" cy="594360"/>
          </a:xfrm>
          <a:prstGeom prst="rect">
            <a:avLst/>
          </a:prstGeom>
          <a:noFill/>
          <a:ln/>
        </p:spPr>
        <p:txBody>
          <a:bodyPr wrap="square" lIns="0" tIns="0" rIns="0" bIns="0" rtlCol="0" anchor="t"/>
          <a:lstStyle/>
          <a:p>
            <a:pPr indent="0" marL="0">
              <a:buNone/>
            </a:pPr>
            <a:r>
              <a:rPr lang="en-US" sz="1400" dirty="0">
                <a:solidFill>
                  <a:schemeClr val="tx1"/>
                </a:solidFill>
              </a:rPr>
              <a:t>Six tables, ACID, local or cloud TLS</a:t>
            </a:r>
            <a:endParaRPr lang="en-US" sz="1400" dirty="0"/>
          </a:p>
        </p:txBody>
      </p:sp>
      <p:sp>
        <p:nvSpPr>
          <p:cNvPr id="23" name="tech card HTML5, CSS3, JS"/>
          <p:cNvSpPr/>
          <p:nvPr/>
        </p:nvSpPr>
        <p:spPr>
          <a:xfrm>
            <a:off x="548640" y="3749040"/>
            <a:ext cx="2651760" cy="2011680"/>
          </a:xfrm>
          <a:prstGeom prst="roundRect">
            <a:avLst>
              <a:gd name="adj" fmla="val 545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24" name="HTML5, CSS3, JS circle"/>
          <p:cNvSpPr/>
          <p:nvPr/>
        </p:nvSpPr>
        <p:spPr>
          <a:xfrm>
            <a:off x="777240" y="3977640"/>
            <a:ext cx="594360" cy="594360"/>
          </a:xfrm>
          <a:prstGeom prst="ellipse">
            <a:avLst/>
          </a:prstGeom>
          <a:solidFill>
            <a:schemeClr val="accent5"/>
          </a:solidFill>
          <a:ln w="6350">
            <a:solidFill>
              <a:schemeClr val="accent5"/>
            </a:solidFill>
            <a:prstDash val="solid"/>
          </a:ln>
        </p:spPr>
      </p:sp>
      <p:pic>
        <p:nvPicPr>
          <p:cNvPr id="25" name="HTML5, CSS3, JS glyph" descr="HTML5, CSS3, JS">    </p:cNvPr>
          <p:cNvPicPr>
            <a:picLocks noChangeAspect="1"/>
          </p:cNvPicPr>
          <p:nvPr/>
        </p:nvPicPr>
        <p:blipFill>
          <a:blip r:embed="rId5"/>
          <a:stretch>
            <a:fillRect/>
          </a:stretch>
        </p:blipFill>
        <p:spPr>
          <a:xfrm>
            <a:off x="931774" y="4132174"/>
            <a:ext cx="285293" cy="285293"/>
          </a:xfrm>
          <a:prstGeom prst="rect">
            <a:avLst/>
          </a:prstGeom>
        </p:spPr>
      </p:pic>
      <p:sp>
        <p:nvSpPr>
          <p:cNvPr id="26" name="tech name HTML5, CSS3, JS"/>
          <p:cNvSpPr txBox="1"/>
          <p:nvPr/>
        </p:nvSpPr>
        <p:spPr>
          <a:xfrm>
            <a:off x="777240" y="4709160"/>
            <a:ext cx="2286000" cy="365760"/>
          </a:xfrm>
          <a:prstGeom prst="rect">
            <a:avLst/>
          </a:prstGeom>
          <a:noFill/>
          <a:ln/>
        </p:spPr>
        <p:txBody>
          <a:bodyPr wrap="square" lIns="0" tIns="0" rIns="0" bIns="0" rtlCol="0" anchor="ctr"/>
          <a:lstStyle/>
          <a:p>
            <a:pPr indent="0" marL="0">
              <a:buNone/>
            </a:pPr>
            <a:r>
              <a:rPr lang="en-US" sz="1700" b="1" dirty="0">
                <a:solidFill>
                  <a:schemeClr val="tx2"/>
                </a:solidFill>
              </a:rPr>
              <a:t>HTML5, CSS3, JS</a:t>
            </a:r>
            <a:endParaRPr lang="en-US" sz="1700" dirty="0"/>
          </a:p>
        </p:txBody>
      </p:sp>
      <p:sp>
        <p:nvSpPr>
          <p:cNvPr id="27" name="tech role HTML5, CSS3, JS"/>
          <p:cNvSpPr txBox="1"/>
          <p:nvPr/>
        </p:nvSpPr>
        <p:spPr>
          <a:xfrm>
            <a:off x="777240" y="5074920"/>
            <a:ext cx="2286000" cy="594360"/>
          </a:xfrm>
          <a:prstGeom prst="rect">
            <a:avLst/>
          </a:prstGeom>
          <a:noFill/>
          <a:ln/>
        </p:spPr>
        <p:txBody>
          <a:bodyPr wrap="square" lIns="0" tIns="0" rIns="0" bIns="0" rtlCol="0" anchor="t"/>
          <a:lstStyle/>
          <a:p>
            <a:pPr indent="0" marL="0">
              <a:buNone/>
            </a:pPr>
            <a:r>
              <a:rPr lang="en-US" sz="1400" dirty="0">
                <a:solidFill>
                  <a:schemeClr val="tx1"/>
                </a:solidFill>
              </a:rPr>
              <a:t>Responsive forms and role tabs</a:t>
            </a:r>
            <a:endParaRPr lang="en-US" sz="1400" dirty="0"/>
          </a:p>
        </p:txBody>
      </p:sp>
      <p:sp>
        <p:nvSpPr>
          <p:cNvPr id="28" name="tech card Apache Tomcat 10.1"/>
          <p:cNvSpPr/>
          <p:nvPr/>
        </p:nvSpPr>
        <p:spPr>
          <a:xfrm>
            <a:off x="3355848" y="3749040"/>
            <a:ext cx="2651760" cy="2011680"/>
          </a:xfrm>
          <a:prstGeom prst="roundRect">
            <a:avLst>
              <a:gd name="adj" fmla="val 545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29" name="Apache Tomcat 10.1 circle"/>
          <p:cNvSpPr/>
          <p:nvPr/>
        </p:nvSpPr>
        <p:spPr>
          <a:xfrm>
            <a:off x="3584448" y="3977640"/>
            <a:ext cx="594360" cy="594360"/>
          </a:xfrm>
          <a:prstGeom prst="ellipse">
            <a:avLst/>
          </a:prstGeom>
          <a:solidFill>
            <a:schemeClr val="accent1"/>
          </a:solidFill>
          <a:ln w="6350">
            <a:solidFill>
              <a:schemeClr val="accent1"/>
            </a:solidFill>
            <a:prstDash val="solid"/>
          </a:ln>
        </p:spPr>
      </p:sp>
      <p:pic>
        <p:nvPicPr>
          <p:cNvPr id="30" name="Apache Tomcat 10.1 glyph" descr="Apache Tomcat 10.1">    </p:cNvPr>
          <p:cNvPicPr>
            <a:picLocks noChangeAspect="1"/>
          </p:cNvPicPr>
          <p:nvPr/>
        </p:nvPicPr>
        <p:blipFill>
          <a:blip r:embed="rId6"/>
          <a:stretch>
            <a:fillRect/>
          </a:stretch>
        </p:blipFill>
        <p:spPr>
          <a:xfrm>
            <a:off x="3738982" y="4132174"/>
            <a:ext cx="285293" cy="285293"/>
          </a:xfrm>
          <a:prstGeom prst="rect">
            <a:avLst/>
          </a:prstGeom>
        </p:spPr>
      </p:pic>
      <p:sp>
        <p:nvSpPr>
          <p:cNvPr id="31" name="tech name Apache Tomcat 10.1"/>
          <p:cNvSpPr txBox="1"/>
          <p:nvPr/>
        </p:nvSpPr>
        <p:spPr>
          <a:xfrm>
            <a:off x="3584448" y="4709160"/>
            <a:ext cx="2286000" cy="365760"/>
          </a:xfrm>
          <a:prstGeom prst="rect">
            <a:avLst/>
          </a:prstGeom>
          <a:noFill/>
          <a:ln/>
        </p:spPr>
        <p:txBody>
          <a:bodyPr wrap="square" lIns="0" tIns="0" rIns="0" bIns="0" rtlCol="0" anchor="ctr"/>
          <a:lstStyle/>
          <a:p>
            <a:pPr indent="0" marL="0">
              <a:buNone/>
            </a:pPr>
            <a:r>
              <a:rPr lang="en-US" sz="1700" b="1" dirty="0">
                <a:solidFill>
                  <a:schemeClr val="tx2"/>
                </a:solidFill>
              </a:rPr>
              <a:t>Apache Tomcat 10.1</a:t>
            </a:r>
            <a:endParaRPr lang="en-US" sz="1700" dirty="0"/>
          </a:p>
        </p:txBody>
      </p:sp>
      <p:sp>
        <p:nvSpPr>
          <p:cNvPr id="32" name="tech role Apache Tomcat 10.1"/>
          <p:cNvSpPr txBox="1"/>
          <p:nvPr/>
        </p:nvSpPr>
        <p:spPr>
          <a:xfrm>
            <a:off x="3584448" y="5074920"/>
            <a:ext cx="2286000" cy="594360"/>
          </a:xfrm>
          <a:prstGeom prst="rect">
            <a:avLst/>
          </a:prstGeom>
          <a:noFill/>
          <a:ln/>
        </p:spPr>
        <p:txBody>
          <a:bodyPr wrap="square" lIns="0" tIns="0" rIns="0" bIns="0" rtlCol="0" anchor="t"/>
          <a:lstStyle/>
          <a:p>
            <a:pPr indent="0" marL="0">
              <a:buNone/>
            </a:pPr>
            <a:r>
              <a:rPr lang="en-US" sz="1400" dirty="0">
                <a:solidFill>
                  <a:schemeClr val="tx1"/>
                </a:solidFill>
              </a:rPr>
              <a:t>Servlet container</a:t>
            </a:r>
            <a:endParaRPr lang="en-US" sz="1400" dirty="0"/>
          </a:p>
        </p:txBody>
      </p:sp>
      <p:sp>
        <p:nvSpPr>
          <p:cNvPr id="33" name="tech card Maven"/>
          <p:cNvSpPr/>
          <p:nvPr/>
        </p:nvSpPr>
        <p:spPr>
          <a:xfrm>
            <a:off x="6163056" y="3749040"/>
            <a:ext cx="2651760" cy="2011680"/>
          </a:xfrm>
          <a:prstGeom prst="roundRect">
            <a:avLst>
              <a:gd name="adj" fmla="val 545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34" name="Maven circle"/>
          <p:cNvSpPr/>
          <p:nvPr/>
        </p:nvSpPr>
        <p:spPr>
          <a:xfrm>
            <a:off x="6391656" y="3977640"/>
            <a:ext cx="594360" cy="594360"/>
          </a:xfrm>
          <a:prstGeom prst="ellipse">
            <a:avLst/>
          </a:prstGeom>
          <a:solidFill>
            <a:schemeClr val="accent3"/>
          </a:solidFill>
          <a:ln w="6350">
            <a:solidFill>
              <a:schemeClr val="accent3"/>
            </a:solidFill>
            <a:prstDash val="solid"/>
          </a:ln>
        </p:spPr>
      </p:sp>
      <p:pic>
        <p:nvPicPr>
          <p:cNvPr id="35" name="Maven glyph" descr="Maven">    </p:cNvPr>
          <p:cNvPicPr>
            <a:picLocks noChangeAspect="1"/>
          </p:cNvPicPr>
          <p:nvPr/>
        </p:nvPicPr>
        <p:blipFill>
          <a:blip r:embed="rId7"/>
          <a:stretch>
            <a:fillRect/>
          </a:stretch>
        </p:blipFill>
        <p:spPr>
          <a:xfrm>
            <a:off x="6546190" y="4132174"/>
            <a:ext cx="285293" cy="285293"/>
          </a:xfrm>
          <a:prstGeom prst="rect">
            <a:avLst/>
          </a:prstGeom>
        </p:spPr>
      </p:pic>
      <p:sp>
        <p:nvSpPr>
          <p:cNvPr id="36" name="tech name Maven"/>
          <p:cNvSpPr txBox="1"/>
          <p:nvPr/>
        </p:nvSpPr>
        <p:spPr>
          <a:xfrm>
            <a:off x="6391656" y="4709160"/>
            <a:ext cx="2286000" cy="365760"/>
          </a:xfrm>
          <a:prstGeom prst="rect">
            <a:avLst/>
          </a:prstGeom>
          <a:noFill/>
          <a:ln/>
        </p:spPr>
        <p:txBody>
          <a:bodyPr wrap="square" lIns="0" tIns="0" rIns="0" bIns="0" rtlCol="0" anchor="ctr"/>
          <a:lstStyle/>
          <a:p>
            <a:pPr indent="0" marL="0">
              <a:buNone/>
            </a:pPr>
            <a:r>
              <a:rPr lang="en-US" sz="1700" b="1" dirty="0">
                <a:solidFill>
                  <a:schemeClr val="tx2"/>
                </a:solidFill>
              </a:rPr>
              <a:t>Maven</a:t>
            </a:r>
            <a:endParaRPr lang="en-US" sz="1700" dirty="0"/>
          </a:p>
        </p:txBody>
      </p:sp>
      <p:sp>
        <p:nvSpPr>
          <p:cNvPr id="37" name="tech role Maven"/>
          <p:cNvSpPr txBox="1"/>
          <p:nvPr/>
        </p:nvSpPr>
        <p:spPr>
          <a:xfrm>
            <a:off x="6391656" y="5074920"/>
            <a:ext cx="2286000" cy="594360"/>
          </a:xfrm>
          <a:prstGeom prst="rect">
            <a:avLst/>
          </a:prstGeom>
          <a:noFill/>
          <a:ln/>
        </p:spPr>
        <p:txBody>
          <a:bodyPr wrap="square" lIns="0" tIns="0" rIns="0" bIns="0" rtlCol="0" anchor="t"/>
          <a:lstStyle/>
          <a:p>
            <a:pPr indent="0" marL="0">
              <a:buNone/>
            </a:pPr>
            <a:r>
              <a:rPr lang="en-US" sz="1400" dirty="0">
                <a:solidFill>
                  <a:schemeClr val="tx1"/>
                </a:solidFill>
              </a:rPr>
              <a:t>Builds one 2.45 MB WAR</a:t>
            </a:r>
            <a:endParaRPr lang="en-US" sz="1400" dirty="0"/>
          </a:p>
        </p:txBody>
      </p:sp>
      <p:sp>
        <p:nvSpPr>
          <p:cNvPr id="38" name="tech card Docker + Render"/>
          <p:cNvSpPr/>
          <p:nvPr/>
        </p:nvSpPr>
        <p:spPr>
          <a:xfrm>
            <a:off x="8970264" y="3749040"/>
            <a:ext cx="2651760" cy="2011680"/>
          </a:xfrm>
          <a:prstGeom prst="roundRect">
            <a:avLst>
              <a:gd name="adj" fmla="val 545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39" name="Docker + Render circle"/>
          <p:cNvSpPr/>
          <p:nvPr/>
        </p:nvSpPr>
        <p:spPr>
          <a:xfrm>
            <a:off x="9198864" y="3977640"/>
            <a:ext cx="594360" cy="594360"/>
          </a:xfrm>
          <a:prstGeom prst="ellipse">
            <a:avLst/>
          </a:prstGeom>
          <a:solidFill>
            <a:schemeClr val="accent2"/>
          </a:solidFill>
          <a:ln w="6350">
            <a:solidFill>
              <a:schemeClr val="accent2"/>
            </a:solidFill>
            <a:prstDash val="solid"/>
          </a:ln>
        </p:spPr>
      </p:sp>
      <p:pic>
        <p:nvPicPr>
          <p:cNvPr id="40" name="Docker + Render glyph" descr="Docker + Render">    </p:cNvPr>
          <p:cNvPicPr>
            <a:picLocks noChangeAspect="1"/>
          </p:cNvPicPr>
          <p:nvPr/>
        </p:nvPicPr>
        <p:blipFill>
          <a:blip r:embed="rId8"/>
          <a:stretch>
            <a:fillRect/>
          </a:stretch>
        </p:blipFill>
        <p:spPr>
          <a:xfrm>
            <a:off x="9353398" y="4132174"/>
            <a:ext cx="285293" cy="285293"/>
          </a:xfrm>
          <a:prstGeom prst="rect">
            <a:avLst/>
          </a:prstGeom>
        </p:spPr>
      </p:pic>
      <p:sp>
        <p:nvSpPr>
          <p:cNvPr id="41" name="tech name Docker + Render"/>
          <p:cNvSpPr txBox="1"/>
          <p:nvPr/>
        </p:nvSpPr>
        <p:spPr>
          <a:xfrm>
            <a:off x="9198864" y="4709160"/>
            <a:ext cx="2286000" cy="365760"/>
          </a:xfrm>
          <a:prstGeom prst="rect">
            <a:avLst/>
          </a:prstGeom>
          <a:noFill/>
          <a:ln/>
        </p:spPr>
        <p:txBody>
          <a:bodyPr wrap="square" lIns="0" tIns="0" rIns="0" bIns="0" rtlCol="0" anchor="ctr"/>
          <a:lstStyle/>
          <a:p>
            <a:pPr indent="0" marL="0">
              <a:buNone/>
            </a:pPr>
            <a:r>
              <a:rPr lang="en-US" sz="1700" b="1" dirty="0">
                <a:solidFill>
                  <a:schemeClr val="tx2"/>
                </a:solidFill>
              </a:rPr>
              <a:t>Docker + Render</a:t>
            </a:r>
            <a:endParaRPr lang="en-US" sz="1700" dirty="0"/>
          </a:p>
        </p:txBody>
      </p:sp>
      <p:sp>
        <p:nvSpPr>
          <p:cNvPr id="42" name="tech role Docker + Render"/>
          <p:cNvSpPr txBox="1"/>
          <p:nvPr/>
        </p:nvSpPr>
        <p:spPr>
          <a:xfrm>
            <a:off x="9198864" y="5074920"/>
            <a:ext cx="2286000" cy="594360"/>
          </a:xfrm>
          <a:prstGeom prst="rect">
            <a:avLst/>
          </a:prstGeom>
          <a:noFill/>
          <a:ln/>
        </p:spPr>
        <p:txBody>
          <a:bodyPr wrap="square" lIns="0" tIns="0" rIns="0" bIns="0" rtlCol="0" anchor="t"/>
          <a:lstStyle/>
          <a:p>
            <a:pPr indent="0" marL="0">
              <a:buNone/>
            </a:pPr>
            <a:r>
              <a:rPr lang="en-US" sz="1400" dirty="0">
                <a:solidFill>
                  <a:schemeClr val="tx1"/>
                </a:solidFill>
              </a:rPr>
              <a:t>Multi-stage image, cloud hosting</a:t>
            </a:r>
            <a:endParaRPr lang="en-US" sz="1400" dirty="0"/>
          </a:p>
        </p:txBody>
      </p:sp>
      <p:sp>
        <p:nvSpPr>
          <p:cNvPr id="43" name="stack footnote"/>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400" i="1" dirty="0">
                <a:solidFill>
                  <a:schemeClr val="accent6"/>
                </a:solidFill>
              </a:rPr>
              <a:t>Zero-framework: no Spring or Hibernate. Only the Servlet API, a container, a JDBC driver and the Java standard library.</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Three-Tier Architecture</a:t>
            </a:r>
            <a:endParaRPr lang="en-US" sz="3400" dirty="0"/>
          </a:p>
        </p:txBody>
      </p:sp>
      <p:sp>
        <p:nvSpPr>
          <p:cNvPr id="3" name="tier 1 card"/>
          <p:cNvSpPr/>
          <p:nvPr/>
        </p:nvSpPr>
        <p:spPr>
          <a:xfrm>
            <a:off x="548640" y="1371600"/>
            <a:ext cx="7498080" cy="1234440"/>
          </a:xfrm>
          <a:prstGeom prst="roundRect">
            <a:avLst>
              <a:gd name="adj" fmla="val 8889"/>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4" name="tier 1 label"/>
          <p:cNvSpPr txBox="1"/>
          <p:nvPr/>
        </p:nvSpPr>
        <p:spPr>
          <a:xfrm>
            <a:off x="777240" y="1444752"/>
            <a:ext cx="4572000" cy="365760"/>
          </a:xfrm>
          <a:prstGeom prst="rect">
            <a:avLst/>
          </a:prstGeom>
          <a:noFill/>
          <a:ln/>
        </p:spPr>
        <p:txBody>
          <a:bodyPr wrap="square" lIns="0" tIns="0" rIns="0" bIns="0" rtlCol="0" anchor="ctr"/>
          <a:lstStyle/>
          <a:p>
            <a:pPr indent="0" marL="0">
              <a:buNone/>
            </a:pPr>
            <a:r>
              <a:rPr lang="en-US" sz="1600" b="1" dirty="0">
                <a:solidFill>
                  <a:schemeClr val="accent1"/>
                </a:solidFill>
              </a:rPr>
              <a:t>Tier 1 · Presentation</a:t>
            </a:r>
            <a:endParaRPr lang="en-US" sz="1600" dirty="0"/>
          </a:p>
        </p:txBody>
      </p:sp>
      <p:sp>
        <p:nvSpPr>
          <p:cNvPr id="5" name="chip JSP views  /WEB-INF/views/"/>
          <p:cNvSpPr/>
          <p:nvPr/>
        </p:nvSpPr>
        <p:spPr>
          <a:xfrm>
            <a:off x="777240" y="1874520"/>
            <a:ext cx="3383280" cy="548640"/>
          </a:xfrm>
          <a:prstGeom prst="roundRect">
            <a:avLst>
              <a:gd name="adj" fmla="val 16667"/>
            </a:avLst>
          </a:prstGeom>
          <a:solidFill>
            <a:srgbClr val="E8ECFB"/>
          </a:solidFill>
          <a:ln w="6350">
            <a:solidFill>
              <a:srgbClr val="E8ECFB"/>
            </a:solidFill>
            <a:prstDash val="solid"/>
          </a:ln>
        </p:spPr>
      </p:sp>
      <p:sp>
        <p:nvSpPr>
          <p:cNvPr id="6" name="chip label JSP views  /WEB-INF/views/"/>
          <p:cNvSpPr txBox="1"/>
          <p:nvPr/>
        </p:nvSpPr>
        <p:spPr>
          <a:xfrm>
            <a:off x="777240" y="1874520"/>
            <a:ext cx="3383280" cy="548640"/>
          </a:xfrm>
          <a:prstGeom prst="rect">
            <a:avLst/>
          </a:prstGeom>
          <a:noFill/>
          <a:ln/>
        </p:spPr>
        <p:txBody>
          <a:bodyPr wrap="square" lIns="381" tIns="381" rIns="381" bIns="381" rtlCol="0" anchor="ctr"/>
          <a:lstStyle/>
          <a:p>
            <a:pPr algn="ctr" indent="0" marL="0">
              <a:buNone/>
            </a:pPr>
            <a:r>
              <a:rPr lang="en-US" sz="1400" b="1" dirty="0">
                <a:solidFill>
                  <a:schemeClr val="tx2"/>
                </a:solidFill>
              </a:rPr>
              <a:t>JSP views  /WEB-INF/views/</a:t>
            </a:r>
            <a:endParaRPr lang="en-US" sz="1400" dirty="0"/>
          </a:p>
        </p:txBody>
      </p:sp>
      <p:sp>
        <p:nvSpPr>
          <p:cNvPr id="7" name="chip HTML5 · CSS3 · vanilla JS"/>
          <p:cNvSpPr/>
          <p:nvPr/>
        </p:nvSpPr>
        <p:spPr>
          <a:xfrm>
            <a:off x="4297680" y="1874520"/>
            <a:ext cx="3566160" cy="548640"/>
          </a:xfrm>
          <a:prstGeom prst="roundRect">
            <a:avLst>
              <a:gd name="adj" fmla="val 16667"/>
            </a:avLst>
          </a:prstGeom>
          <a:solidFill>
            <a:srgbClr val="E8ECFB"/>
          </a:solidFill>
          <a:ln w="6350">
            <a:solidFill>
              <a:srgbClr val="E8ECFB"/>
            </a:solidFill>
            <a:prstDash val="solid"/>
          </a:ln>
        </p:spPr>
      </p:sp>
      <p:sp>
        <p:nvSpPr>
          <p:cNvPr id="8" name="chip label HTML5 · CSS3 · vanilla JS"/>
          <p:cNvSpPr txBox="1"/>
          <p:nvPr/>
        </p:nvSpPr>
        <p:spPr>
          <a:xfrm>
            <a:off x="4297680" y="1874520"/>
            <a:ext cx="3566160" cy="548640"/>
          </a:xfrm>
          <a:prstGeom prst="rect">
            <a:avLst/>
          </a:prstGeom>
          <a:noFill/>
          <a:ln/>
        </p:spPr>
        <p:txBody>
          <a:bodyPr wrap="square" lIns="381" tIns="381" rIns="381" bIns="381" rtlCol="0" anchor="ctr"/>
          <a:lstStyle/>
          <a:p>
            <a:pPr algn="ctr" indent="0" marL="0">
              <a:buNone/>
            </a:pPr>
            <a:r>
              <a:rPr lang="en-US" sz="1400" b="1" dirty="0">
                <a:solidFill>
                  <a:schemeClr val="tx2"/>
                </a:solidFill>
              </a:rPr>
              <a:t>HTML5 · CSS3 · vanilla JS</a:t>
            </a:r>
            <a:endParaRPr lang="en-US" sz="1400" dirty="0"/>
          </a:p>
        </p:txBody>
      </p:sp>
      <p:sp>
        <p:nvSpPr>
          <p:cNvPr id="9" name="arrow down"/>
          <p:cNvSpPr/>
          <p:nvPr/>
        </p:nvSpPr>
        <p:spPr>
          <a:xfrm>
            <a:off x="4297680" y="2651760"/>
            <a:ext cx="0" cy="274320"/>
          </a:xfrm>
          <a:prstGeom prst="line">
            <a:avLst/>
          </a:prstGeom>
          <a:noFill/>
          <a:ln w="22225">
            <a:solidFill>
              <a:schemeClr val="accent6"/>
            </a:solidFill>
            <a:prstDash val="solid"/>
            <a:tailEnd type="triangle"/>
          </a:ln>
        </p:spPr>
      </p:sp>
      <p:sp>
        <p:nvSpPr>
          <p:cNvPr id="10" name="tier 2 card"/>
          <p:cNvSpPr/>
          <p:nvPr/>
        </p:nvSpPr>
        <p:spPr>
          <a:xfrm>
            <a:off x="548640" y="2788920"/>
            <a:ext cx="7498080" cy="1874520"/>
          </a:xfrm>
          <a:prstGeom prst="roundRect">
            <a:avLst>
              <a:gd name="adj" fmla="val 5854"/>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11" name="tier 2 label"/>
          <p:cNvSpPr txBox="1"/>
          <p:nvPr/>
        </p:nvSpPr>
        <p:spPr>
          <a:xfrm>
            <a:off x="777240" y="2862072"/>
            <a:ext cx="6949440" cy="365760"/>
          </a:xfrm>
          <a:prstGeom prst="rect">
            <a:avLst/>
          </a:prstGeom>
          <a:noFill/>
          <a:ln/>
        </p:spPr>
        <p:txBody>
          <a:bodyPr wrap="square" lIns="0" tIns="0" rIns="0" bIns="0" rtlCol="0" anchor="ctr"/>
          <a:lstStyle/>
          <a:p>
            <a:pPr indent="0" marL="0">
              <a:buNone/>
            </a:pPr>
            <a:r>
              <a:rPr lang="en-US" sz="1600" b="1" dirty="0">
                <a:solidFill>
                  <a:schemeClr val="accent3"/>
                </a:solidFill>
              </a:rPr>
              <a:t>Tier 2 · Business logic (Jakarta Servlets 6.0 on Tomcat 10.1)</a:t>
            </a:r>
            <a:endParaRPr lang="en-US" sz="1600" dirty="0"/>
          </a:p>
        </p:txBody>
      </p:sp>
      <p:sp>
        <p:nvSpPr>
          <p:cNvPr id="12" name="authfilter bar"/>
          <p:cNvSpPr/>
          <p:nvPr/>
        </p:nvSpPr>
        <p:spPr>
          <a:xfrm>
            <a:off x="777240" y="3291840"/>
            <a:ext cx="7040880" cy="548640"/>
          </a:xfrm>
          <a:prstGeom prst="roundRect">
            <a:avLst>
              <a:gd name="adj" fmla="val 16667"/>
            </a:avLst>
          </a:prstGeom>
          <a:solidFill>
            <a:schemeClr val="accent1"/>
          </a:solidFill>
          <a:ln w="6350">
            <a:solidFill>
              <a:schemeClr val="accent1"/>
            </a:solidFill>
            <a:prstDash val="solid"/>
          </a:ln>
        </p:spPr>
      </p:sp>
      <p:sp>
        <p:nvSpPr>
          <p:cNvPr id="13" name="authfilter text"/>
          <p:cNvSpPr txBox="1"/>
          <p:nvPr/>
        </p:nvSpPr>
        <p:spPr>
          <a:xfrm>
            <a:off x="777240" y="3291840"/>
            <a:ext cx="7040880" cy="548640"/>
          </a:xfrm>
          <a:prstGeom prst="rect">
            <a:avLst/>
          </a:prstGeom>
          <a:noFill/>
          <a:ln/>
        </p:spPr>
        <p:txBody>
          <a:bodyPr wrap="square" lIns="0" tIns="0" rIns="0" bIns="0" rtlCol="0" anchor="ctr"/>
          <a:lstStyle/>
          <a:p>
            <a:pPr algn="ctr" indent="0" marL="0">
              <a:buNone/>
            </a:pPr>
            <a:r>
              <a:rPr lang="en-US" sz="1400" b="1" dirty="0">
                <a:solidFill>
                  <a:schemeClr val="bg1"/>
                </a:solidFill>
              </a:rPr>
              <a:t>AuthFilter: session role vs. path prefix (/student/*, /company/*, /admin/*)</a:t>
            </a:r>
            <a:endParaRPr lang="en-US" sz="1400" dirty="0"/>
          </a:p>
        </p:txBody>
      </p:sp>
      <p:sp>
        <p:nvSpPr>
          <p:cNvPr id="14" name="chip AuthServlet"/>
          <p:cNvSpPr/>
          <p:nvPr/>
        </p:nvSpPr>
        <p:spPr>
          <a:xfrm>
            <a:off x="777240" y="4023360"/>
            <a:ext cx="1645920" cy="502920"/>
          </a:xfrm>
          <a:prstGeom prst="roundRect">
            <a:avLst>
              <a:gd name="adj" fmla="val 18182"/>
            </a:avLst>
          </a:prstGeom>
          <a:solidFill>
            <a:srgbClr val="EFE9FD"/>
          </a:solidFill>
          <a:ln w="6350">
            <a:solidFill>
              <a:srgbClr val="EFE9FD"/>
            </a:solidFill>
            <a:prstDash val="solid"/>
          </a:ln>
        </p:spPr>
      </p:sp>
      <p:sp>
        <p:nvSpPr>
          <p:cNvPr id="15" name="chip label AuthServlet"/>
          <p:cNvSpPr txBox="1"/>
          <p:nvPr/>
        </p:nvSpPr>
        <p:spPr>
          <a:xfrm>
            <a:off x="777240" y="4023360"/>
            <a:ext cx="1645920" cy="502920"/>
          </a:xfrm>
          <a:prstGeom prst="rect">
            <a:avLst/>
          </a:prstGeom>
          <a:noFill/>
          <a:ln/>
        </p:spPr>
        <p:txBody>
          <a:bodyPr wrap="square" lIns="381" tIns="381" rIns="381" bIns="381" rtlCol="0" anchor="ctr"/>
          <a:lstStyle/>
          <a:p>
            <a:pPr algn="ctr" indent="0" marL="0">
              <a:buNone/>
            </a:pPr>
            <a:r>
              <a:rPr lang="en-US" sz="1200" b="1" dirty="0">
                <a:solidFill>
                  <a:schemeClr val="tx2"/>
                </a:solidFill>
              </a:rPr>
              <a:t>AuthServlet</a:t>
            </a:r>
            <a:endParaRPr lang="en-US" sz="1200" dirty="0"/>
          </a:p>
        </p:txBody>
      </p:sp>
      <p:sp>
        <p:nvSpPr>
          <p:cNvPr id="16" name="chip StudentServlet"/>
          <p:cNvSpPr/>
          <p:nvPr/>
        </p:nvSpPr>
        <p:spPr>
          <a:xfrm>
            <a:off x="2560320" y="4023360"/>
            <a:ext cx="1645920" cy="502920"/>
          </a:xfrm>
          <a:prstGeom prst="roundRect">
            <a:avLst>
              <a:gd name="adj" fmla="val 18182"/>
            </a:avLst>
          </a:prstGeom>
          <a:solidFill>
            <a:srgbClr val="EFE9FD"/>
          </a:solidFill>
          <a:ln w="6350">
            <a:solidFill>
              <a:srgbClr val="EFE9FD"/>
            </a:solidFill>
            <a:prstDash val="solid"/>
          </a:ln>
        </p:spPr>
      </p:sp>
      <p:sp>
        <p:nvSpPr>
          <p:cNvPr id="17" name="chip label StudentServlet"/>
          <p:cNvSpPr txBox="1"/>
          <p:nvPr/>
        </p:nvSpPr>
        <p:spPr>
          <a:xfrm>
            <a:off x="2560320" y="4023360"/>
            <a:ext cx="1645920" cy="502920"/>
          </a:xfrm>
          <a:prstGeom prst="rect">
            <a:avLst/>
          </a:prstGeom>
          <a:noFill/>
          <a:ln/>
        </p:spPr>
        <p:txBody>
          <a:bodyPr wrap="square" lIns="381" tIns="381" rIns="381" bIns="381" rtlCol="0" anchor="ctr"/>
          <a:lstStyle/>
          <a:p>
            <a:pPr algn="ctr" indent="0" marL="0">
              <a:buNone/>
            </a:pPr>
            <a:r>
              <a:rPr lang="en-US" sz="1200" b="1" dirty="0">
                <a:solidFill>
                  <a:schemeClr val="tx2"/>
                </a:solidFill>
              </a:rPr>
              <a:t>StudentServlet</a:t>
            </a:r>
            <a:endParaRPr lang="en-US" sz="1200" dirty="0"/>
          </a:p>
        </p:txBody>
      </p:sp>
      <p:sp>
        <p:nvSpPr>
          <p:cNvPr id="18" name="chip CompanyServlet"/>
          <p:cNvSpPr/>
          <p:nvPr/>
        </p:nvSpPr>
        <p:spPr>
          <a:xfrm>
            <a:off x="4343400" y="4023360"/>
            <a:ext cx="1645920" cy="502920"/>
          </a:xfrm>
          <a:prstGeom prst="roundRect">
            <a:avLst>
              <a:gd name="adj" fmla="val 18182"/>
            </a:avLst>
          </a:prstGeom>
          <a:solidFill>
            <a:srgbClr val="EFE9FD"/>
          </a:solidFill>
          <a:ln w="6350">
            <a:solidFill>
              <a:srgbClr val="EFE9FD"/>
            </a:solidFill>
            <a:prstDash val="solid"/>
          </a:ln>
        </p:spPr>
      </p:sp>
      <p:sp>
        <p:nvSpPr>
          <p:cNvPr id="19" name="chip label CompanyServlet"/>
          <p:cNvSpPr txBox="1"/>
          <p:nvPr/>
        </p:nvSpPr>
        <p:spPr>
          <a:xfrm>
            <a:off x="4343400" y="4023360"/>
            <a:ext cx="1645920" cy="502920"/>
          </a:xfrm>
          <a:prstGeom prst="rect">
            <a:avLst/>
          </a:prstGeom>
          <a:noFill/>
          <a:ln/>
        </p:spPr>
        <p:txBody>
          <a:bodyPr wrap="square" lIns="381" tIns="381" rIns="381" bIns="381" rtlCol="0" anchor="ctr"/>
          <a:lstStyle/>
          <a:p>
            <a:pPr algn="ctr" indent="0" marL="0">
              <a:buNone/>
            </a:pPr>
            <a:r>
              <a:rPr lang="en-US" sz="1200" b="1" dirty="0">
                <a:solidFill>
                  <a:schemeClr val="tx2"/>
                </a:solidFill>
              </a:rPr>
              <a:t>CompanyServlet</a:t>
            </a:r>
            <a:endParaRPr lang="en-US" sz="1200" dirty="0"/>
          </a:p>
        </p:txBody>
      </p:sp>
      <p:sp>
        <p:nvSpPr>
          <p:cNvPr id="20" name="chip AdminServlet"/>
          <p:cNvSpPr/>
          <p:nvPr/>
        </p:nvSpPr>
        <p:spPr>
          <a:xfrm>
            <a:off x="6126480" y="4023360"/>
            <a:ext cx="1645920" cy="502920"/>
          </a:xfrm>
          <a:prstGeom prst="roundRect">
            <a:avLst>
              <a:gd name="adj" fmla="val 18182"/>
            </a:avLst>
          </a:prstGeom>
          <a:solidFill>
            <a:srgbClr val="EFE9FD"/>
          </a:solidFill>
          <a:ln w="6350">
            <a:solidFill>
              <a:srgbClr val="EFE9FD"/>
            </a:solidFill>
            <a:prstDash val="solid"/>
          </a:ln>
        </p:spPr>
      </p:sp>
      <p:sp>
        <p:nvSpPr>
          <p:cNvPr id="21" name="chip label AdminServlet"/>
          <p:cNvSpPr txBox="1"/>
          <p:nvPr/>
        </p:nvSpPr>
        <p:spPr>
          <a:xfrm>
            <a:off x="6126480" y="4023360"/>
            <a:ext cx="1645920" cy="502920"/>
          </a:xfrm>
          <a:prstGeom prst="rect">
            <a:avLst/>
          </a:prstGeom>
          <a:noFill/>
          <a:ln/>
        </p:spPr>
        <p:txBody>
          <a:bodyPr wrap="square" lIns="381" tIns="381" rIns="381" bIns="381" rtlCol="0" anchor="ctr"/>
          <a:lstStyle/>
          <a:p>
            <a:pPr algn="ctr" indent="0" marL="0">
              <a:buNone/>
            </a:pPr>
            <a:r>
              <a:rPr lang="en-US" sz="1200" b="1" dirty="0">
                <a:solidFill>
                  <a:schemeClr val="tx2"/>
                </a:solidFill>
              </a:rPr>
              <a:t>AdminServlet</a:t>
            </a:r>
            <a:endParaRPr lang="en-US" sz="1200" dirty="0"/>
          </a:p>
        </p:txBody>
      </p:sp>
      <p:sp>
        <p:nvSpPr>
          <p:cNvPr id="22" name="arrow down"/>
          <p:cNvSpPr/>
          <p:nvPr/>
        </p:nvSpPr>
        <p:spPr>
          <a:xfrm>
            <a:off x="4297680" y="4709160"/>
            <a:ext cx="0" cy="274320"/>
          </a:xfrm>
          <a:prstGeom prst="line">
            <a:avLst/>
          </a:prstGeom>
          <a:noFill/>
          <a:ln w="22225">
            <a:solidFill>
              <a:schemeClr val="accent6"/>
            </a:solidFill>
            <a:prstDash val="solid"/>
            <a:tailEnd type="triangle"/>
          </a:ln>
        </p:spPr>
      </p:sp>
      <p:sp>
        <p:nvSpPr>
          <p:cNvPr id="23" name="tier 3 card"/>
          <p:cNvSpPr/>
          <p:nvPr/>
        </p:nvSpPr>
        <p:spPr>
          <a:xfrm>
            <a:off x="548640" y="4846320"/>
            <a:ext cx="7498080" cy="1417320"/>
          </a:xfrm>
          <a:prstGeom prst="roundRect">
            <a:avLst>
              <a:gd name="adj" fmla="val 7742"/>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24" name="tier 3 label"/>
          <p:cNvSpPr txBox="1"/>
          <p:nvPr/>
        </p:nvSpPr>
        <p:spPr>
          <a:xfrm>
            <a:off x="777240" y="4919472"/>
            <a:ext cx="4572000" cy="365760"/>
          </a:xfrm>
          <a:prstGeom prst="rect">
            <a:avLst/>
          </a:prstGeom>
          <a:noFill/>
          <a:ln/>
        </p:spPr>
        <p:txBody>
          <a:bodyPr wrap="square" lIns="0" tIns="0" rIns="0" bIns="0" rtlCol="0" anchor="ctr"/>
          <a:lstStyle/>
          <a:p>
            <a:pPr indent="0" marL="0">
              <a:buNone/>
            </a:pPr>
            <a:r>
              <a:rPr lang="en-US" sz="1600" b="1" dirty="0">
                <a:solidFill>
                  <a:schemeClr val="accent2"/>
                </a:solidFill>
              </a:rPr>
              <a:t>Tier 3 · Persistence (pure JDBC)</a:t>
            </a:r>
            <a:endParaRPr lang="en-US" sz="1600" dirty="0"/>
          </a:p>
        </p:txBody>
      </p:sp>
      <p:sp>
        <p:nvSpPr>
          <p:cNvPr id="25" name="chip DAO classes"/>
          <p:cNvSpPr/>
          <p:nvPr/>
        </p:nvSpPr>
        <p:spPr>
          <a:xfrm>
            <a:off x="777240" y="5376672"/>
            <a:ext cx="2103120" cy="640080"/>
          </a:xfrm>
          <a:prstGeom prst="roundRect">
            <a:avLst>
              <a:gd name="adj" fmla="val 14286"/>
            </a:avLst>
          </a:prstGeom>
          <a:solidFill>
            <a:srgbClr val="DDF5F1"/>
          </a:solidFill>
          <a:ln w="6350">
            <a:solidFill>
              <a:srgbClr val="DDF5F1"/>
            </a:solidFill>
            <a:prstDash val="solid"/>
          </a:ln>
        </p:spPr>
      </p:sp>
      <p:sp>
        <p:nvSpPr>
          <p:cNvPr id="26" name="chip label DAO classes"/>
          <p:cNvSpPr txBox="1"/>
          <p:nvPr/>
        </p:nvSpPr>
        <p:spPr>
          <a:xfrm>
            <a:off x="777240" y="5376672"/>
            <a:ext cx="2103120" cy="640080"/>
          </a:xfrm>
          <a:prstGeom prst="rect">
            <a:avLst/>
          </a:prstGeom>
          <a:noFill/>
          <a:ln/>
        </p:spPr>
        <p:txBody>
          <a:bodyPr wrap="square" lIns="381" tIns="381" rIns="381" bIns="381" rtlCol="0" anchor="ctr"/>
          <a:lstStyle/>
          <a:p>
            <a:pPr algn="ctr" indent="0" marL="0">
              <a:buNone/>
            </a:pPr>
            <a:r>
              <a:rPr lang="en-US" sz="1400" b="1" dirty="0">
                <a:solidFill>
                  <a:schemeClr val="tx2"/>
                </a:solidFill>
              </a:rPr>
              <a:t>DAO classes</a:t>
            </a:r>
            <a:endParaRPr lang="en-US" sz="1400" dirty="0"/>
          </a:p>
        </p:txBody>
      </p:sp>
      <p:sp>
        <p:nvSpPr>
          <p:cNvPr id="27" name="chip DBConnection"/>
          <p:cNvSpPr/>
          <p:nvPr/>
        </p:nvSpPr>
        <p:spPr>
          <a:xfrm>
            <a:off x="3108960" y="5376672"/>
            <a:ext cx="2103120" cy="640080"/>
          </a:xfrm>
          <a:prstGeom prst="roundRect">
            <a:avLst>
              <a:gd name="adj" fmla="val 14286"/>
            </a:avLst>
          </a:prstGeom>
          <a:solidFill>
            <a:srgbClr val="DDF5F1"/>
          </a:solidFill>
          <a:ln w="6350">
            <a:solidFill>
              <a:srgbClr val="DDF5F1"/>
            </a:solidFill>
            <a:prstDash val="solid"/>
          </a:ln>
        </p:spPr>
      </p:sp>
      <p:sp>
        <p:nvSpPr>
          <p:cNvPr id="28" name="chip label DBConnection"/>
          <p:cNvSpPr txBox="1"/>
          <p:nvPr/>
        </p:nvSpPr>
        <p:spPr>
          <a:xfrm>
            <a:off x="3108960" y="5376672"/>
            <a:ext cx="2103120" cy="640080"/>
          </a:xfrm>
          <a:prstGeom prst="rect">
            <a:avLst/>
          </a:prstGeom>
          <a:noFill/>
          <a:ln/>
        </p:spPr>
        <p:txBody>
          <a:bodyPr wrap="square" lIns="381" tIns="381" rIns="381" bIns="381" rtlCol="0" anchor="ctr"/>
          <a:lstStyle/>
          <a:p>
            <a:pPr algn="ctr" indent="0" marL="0">
              <a:buNone/>
            </a:pPr>
            <a:r>
              <a:rPr lang="en-US" sz="1400" b="1" dirty="0">
                <a:solidFill>
                  <a:schemeClr val="tx2"/>
                </a:solidFill>
              </a:rPr>
              <a:t>DBConnection</a:t>
            </a:r>
            <a:endParaRPr lang="en-US" sz="1400" dirty="0"/>
          </a:p>
        </p:txBody>
      </p:sp>
      <p:sp>
        <p:nvSpPr>
          <p:cNvPr id="29" name="chip MySQL / TiDB Cloud"/>
          <p:cNvSpPr/>
          <p:nvPr/>
        </p:nvSpPr>
        <p:spPr>
          <a:xfrm>
            <a:off x="5440680" y="5376672"/>
            <a:ext cx="2377440" cy="640080"/>
          </a:xfrm>
          <a:prstGeom prst="roundRect">
            <a:avLst>
              <a:gd name="adj" fmla="val 14286"/>
            </a:avLst>
          </a:prstGeom>
          <a:solidFill>
            <a:srgbClr val="DDF5F1"/>
          </a:solidFill>
          <a:ln w="6350">
            <a:solidFill>
              <a:srgbClr val="DDF5F1"/>
            </a:solidFill>
            <a:prstDash val="solid"/>
          </a:ln>
        </p:spPr>
      </p:sp>
      <p:sp>
        <p:nvSpPr>
          <p:cNvPr id="30" name="chip label MySQL / TiDB Cloud"/>
          <p:cNvSpPr txBox="1"/>
          <p:nvPr/>
        </p:nvSpPr>
        <p:spPr>
          <a:xfrm>
            <a:off x="5440680" y="5376672"/>
            <a:ext cx="2377440" cy="640080"/>
          </a:xfrm>
          <a:prstGeom prst="rect">
            <a:avLst/>
          </a:prstGeom>
          <a:noFill/>
          <a:ln/>
        </p:spPr>
        <p:txBody>
          <a:bodyPr wrap="square" lIns="381" tIns="381" rIns="381" bIns="381" rtlCol="0" anchor="ctr"/>
          <a:lstStyle/>
          <a:p>
            <a:pPr algn="ctr" indent="0" marL="0">
              <a:buNone/>
            </a:pPr>
            <a:r>
              <a:rPr lang="en-US" sz="1400" b="1" dirty="0">
                <a:solidFill>
                  <a:schemeClr val="tx2"/>
                </a:solidFill>
              </a:rPr>
              <a:t>MySQL / TiDB Cloud</a:t>
            </a:r>
            <a:endParaRPr lang="en-US" sz="1400" dirty="0"/>
          </a:p>
        </p:txBody>
      </p:sp>
      <p:sp>
        <p:nvSpPr>
          <p:cNvPr id="31" name="arrow"/>
          <p:cNvSpPr/>
          <p:nvPr/>
        </p:nvSpPr>
        <p:spPr>
          <a:xfrm>
            <a:off x="2880360" y="5696712"/>
            <a:ext cx="228600" cy="0"/>
          </a:xfrm>
          <a:prstGeom prst="line">
            <a:avLst/>
          </a:prstGeom>
          <a:noFill/>
          <a:ln w="22225">
            <a:solidFill>
              <a:schemeClr val="accent6"/>
            </a:solidFill>
            <a:prstDash val="solid"/>
            <a:tailEnd type="triangle"/>
          </a:ln>
        </p:spPr>
      </p:sp>
      <p:sp>
        <p:nvSpPr>
          <p:cNvPr id="32" name="arrow"/>
          <p:cNvSpPr/>
          <p:nvPr/>
        </p:nvSpPr>
        <p:spPr>
          <a:xfrm>
            <a:off x="5212080" y="5696712"/>
            <a:ext cx="228600" cy="0"/>
          </a:xfrm>
          <a:prstGeom prst="line">
            <a:avLst/>
          </a:prstGeom>
          <a:noFill/>
          <a:ln w="22225">
            <a:solidFill>
              <a:schemeClr val="accent6"/>
            </a:solidFill>
            <a:prstDash val="solid"/>
            <a:tailEnd type="triangle"/>
          </a:ln>
        </p:spPr>
      </p:sp>
      <p:sp>
        <p:nvSpPr>
          <p:cNvPr id="33" name="deployment card"/>
          <p:cNvSpPr/>
          <p:nvPr/>
        </p:nvSpPr>
        <p:spPr>
          <a:xfrm>
            <a:off x="8321040" y="1371600"/>
            <a:ext cx="3337560" cy="4892040"/>
          </a:xfrm>
          <a:prstGeom prst="roundRect">
            <a:avLst>
              <a:gd name="adj" fmla="val 3288"/>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34" name="deploy heading"/>
          <p:cNvSpPr txBox="1"/>
          <p:nvPr/>
        </p:nvSpPr>
        <p:spPr>
          <a:xfrm>
            <a:off x="8549640" y="1508760"/>
            <a:ext cx="2926080" cy="411480"/>
          </a:xfrm>
          <a:prstGeom prst="rect">
            <a:avLst/>
          </a:prstGeom>
          <a:noFill/>
          <a:ln/>
        </p:spPr>
        <p:txBody>
          <a:bodyPr wrap="square" lIns="0" tIns="0" rIns="0" bIns="0" rtlCol="0" anchor="ctr"/>
          <a:lstStyle/>
          <a:p>
            <a:pPr indent="0" marL="0">
              <a:buNone/>
            </a:pPr>
            <a:r>
              <a:rPr lang="en-US" sz="2000" b="1" dirty="0">
                <a:solidFill>
                  <a:schemeClr val="tx2"/>
                </a:solidFill>
              </a:rPr>
              <a:t>Build &amp; Deploy</a:t>
            </a:r>
            <a:endParaRPr lang="en-US" sz="2000" dirty="0"/>
          </a:p>
        </p:txBody>
      </p:sp>
      <p:sp>
        <p:nvSpPr>
          <p:cNvPr id="35" name="deploy list"/>
          <p:cNvSpPr txBox="1"/>
          <p:nvPr/>
        </p:nvSpPr>
        <p:spPr>
          <a:xfrm>
            <a:off x="8549640" y="2057400"/>
            <a:ext cx="2926080" cy="4023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Maven builds one 2.45 MB WAR</a:t>
            </a:r>
            <a:endParaRPr lang="en-US" sz="1500" dirty="0"/>
          </a:p>
          <a:p>
            <a:pPr marL="342900" indent="-342900">
              <a:spcAft>
                <a:spcPts val="800"/>
              </a:spcAft>
              <a:buSzPct val="100000"/>
              <a:buChar char="•"/>
            </a:pPr>
            <a:r>
              <a:rPr lang="en-US" sz="1500" dirty="0">
                <a:solidFill>
                  <a:schemeClr val="tx1"/>
                </a:solidFill>
              </a:rPr>
              <a:t>Multi-stage Docker image</a:t>
            </a:r>
            <a:endParaRPr lang="en-US" sz="1500" dirty="0"/>
          </a:p>
          <a:p>
            <a:pPr marL="342900" indent="-342900">
              <a:spcAft>
                <a:spcPts val="800"/>
              </a:spcAft>
              <a:buSzPct val="100000"/>
              <a:buChar char="•"/>
            </a:pPr>
            <a:r>
              <a:rPr lang="en-US" sz="1500" dirty="0">
                <a:solidFill>
                  <a:schemeClr val="tx1"/>
                </a:solidFill>
              </a:rPr>
              <a:t>Apache Tomcat 10.1</a:t>
            </a:r>
            <a:endParaRPr lang="en-US" sz="1500" dirty="0"/>
          </a:p>
          <a:p>
            <a:pPr marL="342900" indent="-342900">
              <a:spcAft>
                <a:spcPts val="800"/>
              </a:spcAft>
              <a:buSzPct val="100000"/>
              <a:buChar char="•"/>
            </a:pPr>
            <a:r>
              <a:rPr lang="en-US" sz="1500" dirty="0">
                <a:solidFill>
                  <a:schemeClr val="tx1"/>
                </a:solidFill>
              </a:rPr>
              <a:t>Hosted on Render</a:t>
            </a:r>
            <a:endParaRPr lang="en-US" sz="1500" dirty="0"/>
          </a:p>
          <a:p>
            <a:pPr marL="342900" indent="-342900">
              <a:spcAft>
                <a:spcPts val="800"/>
              </a:spcAft>
              <a:buSzPct val="100000"/>
              <a:buChar char="•"/>
            </a:pPr>
            <a:r>
              <a:rPr lang="en-US" sz="1500" dirty="0">
                <a:solidFill>
                  <a:schemeClr val="tx1"/>
                </a:solidFill>
              </a:rPr>
              <a:t>TiDB Cloud Serverless database</a:t>
            </a:r>
            <a:endParaRPr lang="en-US" sz="1500" dirty="0"/>
          </a:p>
          <a:p>
            <a:pPr marL="342900" indent="-342900">
              <a:spcAft>
                <a:spcPts val="800"/>
              </a:spcAft>
              <a:buSzPct val="100000"/>
              <a:buChar char="•"/>
            </a:pPr>
            <a:r>
              <a:rPr lang="en-US" sz="1500" dirty="0">
                <a:solidFill>
                  <a:schemeClr val="tx1"/>
                </a:solidFill>
              </a:rPr>
              <a:t>Same code runs on local MySQL or cloud TLS via DBConnection</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Role-Based Access Control</a:t>
            </a:r>
            <a:endParaRPr lang="en-US" sz="3400" dirty="0"/>
          </a:p>
        </p:txBody>
      </p:sp>
      <p:sp>
        <p:nvSpPr>
          <p:cNvPr id="3" name="flow box 1"/>
          <p:cNvSpPr/>
          <p:nvPr/>
        </p:nvSpPr>
        <p:spPr>
          <a:xfrm>
            <a:off x="548640" y="1417320"/>
            <a:ext cx="2377440" cy="914400"/>
          </a:xfrm>
          <a:prstGeom prst="roundRect">
            <a:avLst>
              <a:gd name="adj" fmla="val 12000"/>
            </a:avLst>
          </a:prstGeom>
          <a:solidFill>
            <a:schemeClr val="accent6"/>
          </a:solidFill>
          <a:ln w="6350">
            <a:solidFill>
              <a:schemeClr val="accent6"/>
            </a:solidFill>
            <a:prstDash val="solid"/>
          </a:ln>
        </p:spPr>
      </p:sp>
      <p:sp>
        <p:nvSpPr>
          <p:cNvPr id="4" name="flow text 1"/>
          <p:cNvSpPr txBox="1"/>
          <p:nvPr/>
        </p:nvSpPr>
        <p:spPr>
          <a:xfrm>
            <a:off x="548640" y="1417320"/>
            <a:ext cx="2377440" cy="914400"/>
          </a:xfrm>
          <a:prstGeom prst="rect">
            <a:avLst/>
          </a:prstGeom>
          <a:noFill/>
          <a:ln/>
        </p:spPr>
        <p:txBody>
          <a:bodyPr wrap="square" lIns="1016" tIns="1016" rIns="1016" bIns="1016" rtlCol="0" anchor="ctr"/>
          <a:lstStyle/>
          <a:p>
            <a:pPr algn="ctr" indent="0" marL="0">
              <a:buNone/>
            </a:pPr>
            <a:r>
              <a:rPr lang="en-US" sz="1500" b="1" dirty="0">
                <a:solidFill>
                  <a:schemeClr val="bg1"/>
                </a:solidFill>
              </a:rPr>
              <a:t>Browser request</a:t>
            </a:r>
            <a:endParaRPr lang="en-US" sz="1500" dirty="0"/>
          </a:p>
        </p:txBody>
      </p:sp>
      <p:sp>
        <p:nvSpPr>
          <p:cNvPr id="5" name="arrow"/>
          <p:cNvSpPr/>
          <p:nvPr/>
        </p:nvSpPr>
        <p:spPr>
          <a:xfrm>
            <a:off x="2971800" y="1874520"/>
            <a:ext cx="365760" cy="0"/>
          </a:xfrm>
          <a:prstGeom prst="line">
            <a:avLst/>
          </a:prstGeom>
          <a:noFill/>
          <a:ln w="22225">
            <a:solidFill>
              <a:schemeClr val="accent6"/>
            </a:solidFill>
            <a:prstDash val="solid"/>
            <a:tailEnd type="triangle"/>
          </a:ln>
        </p:spPr>
      </p:sp>
      <p:sp>
        <p:nvSpPr>
          <p:cNvPr id="6" name="flow box 2"/>
          <p:cNvSpPr/>
          <p:nvPr/>
        </p:nvSpPr>
        <p:spPr>
          <a:xfrm>
            <a:off x="3383280" y="1417320"/>
            <a:ext cx="2377440" cy="914400"/>
          </a:xfrm>
          <a:prstGeom prst="roundRect">
            <a:avLst>
              <a:gd name="adj" fmla="val 12000"/>
            </a:avLst>
          </a:prstGeom>
          <a:solidFill>
            <a:schemeClr val="accent1"/>
          </a:solidFill>
          <a:ln w="6350">
            <a:solidFill>
              <a:schemeClr val="accent1"/>
            </a:solidFill>
            <a:prstDash val="solid"/>
          </a:ln>
        </p:spPr>
      </p:sp>
      <p:sp>
        <p:nvSpPr>
          <p:cNvPr id="7" name="flow text 2"/>
          <p:cNvSpPr txBox="1"/>
          <p:nvPr/>
        </p:nvSpPr>
        <p:spPr>
          <a:xfrm>
            <a:off x="3383280" y="1417320"/>
            <a:ext cx="2377440" cy="914400"/>
          </a:xfrm>
          <a:prstGeom prst="rect">
            <a:avLst/>
          </a:prstGeom>
          <a:noFill/>
          <a:ln/>
        </p:spPr>
        <p:txBody>
          <a:bodyPr wrap="square" lIns="1016" tIns="1016" rIns="1016" bIns="1016" rtlCol="0" anchor="ctr"/>
          <a:lstStyle/>
          <a:p>
            <a:pPr algn="ctr" indent="0" marL="0">
              <a:buNone/>
            </a:pPr>
            <a:r>
              <a:rPr lang="en-US" sz="1500" b="1" dirty="0">
                <a:solidFill>
                  <a:schemeClr val="bg1"/>
                </a:solidFill>
              </a:rPr>
              <a:t>AuthFilter checks session role</a:t>
            </a:r>
            <a:endParaRPr lang="en-US" sz="1500" dirty="0"/>
          </a:p>
        </p:txBody>
      </p:sp>
      <p:sp>
        <p:nvSpPr>
          <p:cNvPr id="8" name="arrow"/>
          <p:cNvSpPr/>
          <p:nvPr/>
        </p:nvSpPr>
        <p:spPr>
          <a:xfrm>
            <a:off x="5806440" y="1874520"/>
            <a:ext cx="365760" cy="0"/>
          </a:xfrm>
          <a:prstGeom prst="line">
            <a:avLst/>
          </a:prstGeom>
          <a:noFill/>
          <a:ln w="22225">
            <a:solidFill>
              <a:schemeClr val="accent6"/>
            </a:solidFill>
            <a:prstDash val="solid"/>
            <a:tailEnd type="triangle"/>
          </a:ln>
        </p:spPr>
      </p:sp>
      <p:sp>
        <p:nvSpPr>
          <p:cNvPr id="9" name="flow box 3"/>
          <p:cNvSpPr/>
          <p:nvPr/>
        </p:nvSpPr>
        <p:spPr>
          <a:xfrm>
            <a:off x="6217920" y="1417320"/>
            <a:ext cx="2377440" cy="914400"/>
          </a:xfrm>
          <a:prstGeom prst="roundRect">
            <a:avLst>
              <a:gd name="adj" fmla="val 12000"/>
            </a:avLst>
          </a:prstGeom>
          <a:solidFill>
            <a:schemeClr val="accent3"/>
          </a:solidFill>
          <a:ln w="6350">
            <a:solidFill>
              <a:schemeClr val="accent3"/>
            </a:solidFill>
            <a:prstDash val="solid"/>
          </a:ln>
        </p:spPr>
      </p:sp>
      <p:sp>
        <p:nvSpPr>
          <p:cNvPr id="10" name="flow text 3"/>
          <p:cNvSpPr txBox="1"/>
          <p:nvPr/>
        </p:nvSpPr>
        <p:spPr>
          <a:xfrm>
            <a:off x="6217920" y="1417320"/>
            <a:ext cx="2377440" cy="914400"/>
          </a:xfrm>
          <a:prstGeom prst="rect">
            <a:avLst/>
          </a:prstGeom>
          <a:noFill/>
          <a:ln/>
        </p:spPr>
        <p:txBody>
          <a:bodyPr wrap="square" lIns="1016" tIns="1016" rIns="1016" bIns="1016" rtlCol="0" anchor="ctr"/>
          <a:lstStyle/>
          <a:p>
            <a:pPr algn="ctr" indent="0" marL="0">
              <a:buNone/>
            </a:pPr>
            <a:r>
              <a:rPr lang="en-US" sz="1500" b="1" dirty="0">
                <a:solidFill>
                  <a:schemeClr val="bg1"/>
                </a:solidFill>
              </a:rPr>
              <a:t>Role matches path prefix?</a:t>
            </a:r>
            <a:endParaRPr lang="en-US" sz="1500" dirty="0"/>
          </a:p>
        </p:txBody>
      </p:sp>
      <p:sp>
        <p:nvSpPr>
          <p:cNvPr id="11" name="arrow"/>
          <p:cNvSpPr/>
          <p:nvPr/>
        </p:nvSpPr>
        <p:spPr>
          <a:xfrm>
            <a:off x="8641080" y="1874520"/>
            <a:ext cx="365760" cy="0"/>
          </a:xfrm>
          <a:prstGeom prst="line">
            <a:avLst/>
          </a:prstGeom>
          <a:noFill/>
          <a:ln w="22225">
            <a:solidFill>
              <a:schemeClr val="accent6"/>
            </a:solidFill>
            <a:prstDash val="solid"/>
            <a:tailEnd type="triangle"/>
          </a:ln>
        </p:spPr>
      </p:sp>
      <p:sp>
        <p:nvSpPr>
          <p:cNvPr id="12" name="flow box 4"/>
          <p:cNvSpPr/>
          <p:nvPr/>
        </p:nvSpPr>
        <p:spPr>
          <a:xfrm>
            <a:off x="9052560" y="1417320"/>
            <a:ext cx="2377440" cy="914400"/>
          </a:xfrm>
          <a:prstGeom prst="roundRect">
            <a:avLst>
              <a:gd name="adj" fmla="val 12000"/>
            </a:avLst>
          </a:prstGeom>
          <a:solidFill>
            <a:schemeClr val="accent2"/>
          </a:solidFill>
          <a:ln w="6350">
            <a:solidFill>
              <a:schemeClr val="accent2"/>
            </a:solidFill>
            <a:prstDash val="solid"/>
          </a:ln>
        </p:spPr>
      </p:sp>
      <p:sp>
        <p:nvSpPr>
          <p:cNvPr id="13" name="flow text 4"/>
          <p:cNvSpPr txBox="1"/>
          <p:nvPr/>
        </p:nvSpPr>
        <p:spPr>
          <a:xfrm>
            <a:off x="9052560" y="1417320"/>
            <a:ext cx="2377440" cy="914400"/>
          </a:xfrm>
          <a:prstGeom prst="rect">
            <a:avLst/>
          </a:prstGeom>
          <a:noFill/>
          <a:ln/>
        </p:spPr>
        <p:txBody>
          <a:bodyPr wrap="square" lIns="1016" tIns="1016" rIns="1016" bIns="1016" rtlCol="0" anchor="ctr"/>
          <a:lstStyle/>
          <a:p>
            <a:pPr algn="ctr" indent="0" marL="0">
              <a:buNone/>
            </a:pPr>
            <a:r>
              <a:rPr lang="en-US" sz="1500" b="1" dirty="0">
                <a:solidFill>
                  <a:schemeClr val="bg1"/>
                </a:solidFill>
              </a:rPr>
              <a:t>Servlet → DAO (prepared SQL)</a:t>
            </a:r>
            <a:endParaRPr lang="en-US" sz="1500" dirty="0"/>
          </a:p>
        </p:txBody>
      </p:sp>
      <p:sp>
        <p:nvSpPr>
          <p:cNvPr id="14" name="flow note"/>
          <p:cNvSpPr txBox="1"/>
          <p:nvPr/>
        </p:nvSpPr>
        <p:spPr>
          <a:xfrm>
            <a:off x="548640" y="2514600"/>
            <a:ext cx="11064240" cy="457200"/>
          </a:xfrm>
          <a:prstGeom prst="rect">
            <a:avLst/>
          </a:prstGeom>
          <a:noFill/>
          <a:ln/>
        </p:spPr>
        <p:txBody>
          <a:bodyPr wrap="square" lIns="0" tIns="0" rIns="0" bIns="0" rtlCol="0" anchor="ctr"/>
          <a:lstStyle/>
          <a:p>
            <a:pPr indent="0" marL="0">
              <a:buNone/>
            </a:pPr>
            <a:r>
              <a:rPr lang="en-US" sz="1500" i="1" dirty="0">
                <a:solidFill>
                  <a:schemeClr val="accent6"/>
                </a:solidFill>
              </a:rPr>
              <a:t>Unauthorised requests are redirected to login. View templates sit under /WEB-INF/, so the container never serves them directly.</a:t>
            </a:r>
            <a:endParaRPr lang="en-US" sz="1500" dirty="0"/>
          </a:p>
        </p:txBody>
      </p:sp>
      <p:graphicFrame>
        <p:nvGraphicFramePr>
          <p:cNvPr id="7" name="access matrix"/>
          <p:cNvGraphicFramePr>
            <a:graphicFrameLocks noGrp="1"/>
          </p:cNvGraphicFramePr>
          <p:nvPr>
            <p:extLst>
              <p:ext uri="{D42A27DB-BD31-4B8C-83A1-F6EECF244321}">
                <p14:modId xmlns:p14="http://schemas.microsoft.com/office/powerpoint/2010/main" val="1579011935"/>
              </p:ext>
            </p:extLst>
          </p:nvPr>
        </p:nvGraphicFramePr>
        <p:xfrm>
          <a:off x="548640" y="3108960"/>
          <a:ext cx="11064240" cy="914400"/>
        </p:xfrm>
        <a:graphic>
          <a:graphicData uri="http://schemas.openxmlformats.org/drawingml/2006/table">
            <a:tbl>
              <a:tblPr/>
              <a:tblGrid>
                <a:gridCol w="2926080"/>
                <a:gridCol w="2011680"/>
                <a:gridCol w="3383280"/>
                <a:gridCol w="2743200"/>
              </a:tblGrid>
              <a:tr h="438912">
                <a:tc>
                  <a:txBody>
                    <a:bodyPr/>
                    <a:lstStyle/>
                    <a:p>
                      <a:pPr indent="0" marL="0">
                        <a:buNone/>
                      </a:pPr>
                      <a:r>
                        <a:rPr lang="en-US" sz="1400" b="1" dirty="0">
                          <a:solidFill>
                            <a:schemeClr val="bg1"/>
                          </a:solidFill>
                        </a:rPr>
                        <a:t>Data item</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Student</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Company</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Admin (TPO)</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tx1"/>
                          </a:solidFill>
                        </a:rPr>
                        <a:t>Own profile and CGPA</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rPr>
                        <a:t>Other students' profiles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Applicants to own postings only</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rPr>
                        <a:t>Postings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Eligible ones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Own</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rPr>
                        <a:t>Applications and status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Own</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Applicants to own postings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rPr>
                        <a:t>Company approval</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Own status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rPr>
                        <a:t>Credential hashes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Database-level only</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Database Design: Six Tables</a:t>
            </a:r>
            <a:endParaRPr lang="en-US" sz="3400" dirty="0"/>
          </a:p>
        </p:txBody>
      </p:sp>
      <p:sp>
        <p:nvSpPr>
          <p:cNvPr id="3" name="table users"/>
          <p:cNvSpPr/>
          <p:nvPr/>
        </p:nvSpPr>
        <p:spPr>
          <a:xfrm>
            <a:off x="4572000" y="1280160"/>
            <a:ext cx="3017520" cy="1371600"/>
          </a:xfrm>
          <a:prstGeom prst="roundRect">
            <a:avLst>
              <a:gd name="adj" fmla="val 5333"/>
            </a:avLst>
          </a:prstGeom>
          <a:solidFill>
            <a:schemeClr val="bg1"/>
          </a:solidFill>
          <a:ln w="19050">
            <a:solidFill>
              <a:schemeClr val="accent1"/>
            </a:solidFill>
            <a:prstDash val="solid"/>
          </a:ln>
          <a:effectLst>
            <a:outerShdw sx="100000" sy="100000" kx="0" ky="0" algn="bl" rotWithShape="0" blurRad="101600" dist="25400" dir="5400000">
              <a:srgbClr val="0B1020">
                <a:alpha val="12000"/>
              </a:srgbClr>
            </a:outerShdw>
          </a:effectLst>
        </p:spPr>
      </p:sp>
      <p:sp>
        <p:nvSpPr>
          <p:cNvPr id="4" name="table header users"/>
          <p:cNvSpPr/>
          <p:nvPr/>
        </p:nvSpPr>
        <p:spPr>
          <a:xfrm>
            <a:off x="4572000" y="1280160"/>
            <a:ext cx="3017520" cy="365760"/>
          </a:xfrm>
          <a:prstGeom prst="roundRect">
            <a:avLst>
              <a:gd name="adj" fmla="val 20000"/>
            </a:avLst>
          </a:prstGeom>
          <a:solidFill>
            <a:schemeClr val="accent1"/>
          </a:solidFill>
          <a:ln w="6350">
            <a:solidFill>
              <a:schemeClr val="accent1"/>
            </a:solidFill>
            <a:prstDash val="solid"/>
          </a:ln>
        </p:spPr>
      </p:sp>
      <p:sp>
        <p:nvSpPr>
          <p:cNvPr id="5" name="table name users"/>
          <p:cNvSpPr txBox="1"/>
          <p:nvPr/>
        </p:nvSpPr>
        <p:spPr>
          <a:xfrm>
            <a:off x="4572000" y="1280160"/>
            <a:ext cx="3017520" cy="365760"/>
          </a:xfrm>
          <a:prstGeom prst="rect">
            <a:avLst/>
          </a:prstGeom>
          <a:noFill/>
          <a:ln/>
        </p:spPr>
        <p:txBody>
          <a:bodyPr wrap="square" lIns="0" tIns="0" rIns="0" bIns="0" rtlCol="0" anchor="ctr"/>
          <a:lstStyle/>
          <a:p>
            <a:pPr algn="ctr" indent="0" marL="0">
              <a:buNone/>
            </a:pPr>
            <a:r>
              <a:rPr lang="en-US" sz="1400" b="1" dirty="0">
                <a:solidFill>
                  <a:schemeClr val="bg1"/>
                </a:solidFill>
              </a:rPr>
              <a:t>users</a:t>
            </a:r>
            <a:endParaRPr lang="en-US" sz="1400" dirty="0"/>
          </a:p>
        </p:txBody>
      </p:sp>
      <p:sp>
        <p:nvSpPr>
          <p:cNvPr id="6" name="fields users"/>
          <p:cNvSpPr txBox="1"/>
          <p:nvPr/>
        </p:nvSpPr>
        <p:spPr>
          <a:xfrm>
            <a:off x="4681728" y="1719072"/>
            <a:ext cx="2834640" cy="868680"/>
          </a:xfrm>
          <a:prstGeom prst="rect">
            <a:avLst/>
          </a:prstGeom>
          <a:noFill/>
          <a:ln/>
        </p:spPr>
        <p:txBody>
          <a:bodyPr wrap="square" lIns="0" tIns="0" rIns="0" bIns="0" rtlCol="0" anchor="t"/>
          <a:lstStyle/>
          <a:p>
            <a:pPr indent="0" marL="0">
              <a:spcAft>
                <a:spcPts val="100"/>
              </a:spcAft>
              <a:buNone/>
            </a:pPr>
            <a:r>
              <a:rPr lang="en-US" sz="1100" dirty="0">
                <a:solidFill>
                  <a:schemeClr val="tx1"/>
                </a:solidFill>
              </a:rPr>
              <a:t>id (PK)</a:t>
            </a:r>
            <a:endParaRPr lang="en-US" sz="1100" dirty="0"/>
          </a:p>
          <a:p>
            <a:pPr indent="0" marL="0">
              <a:spcAft>
                <a:spcPts val="100"/>
              </a:spcAft>
              <a:buNone/>
            </a:pPr>
            <a:r>
              <a:rPr lang="en-US" sz="1100" dirty="0">
                <a:solidFill>
                  <a:schemeClr val="tx1"/>
                </a:solidFill>
              </a:rPr>
              <a:t>username, email (UNIQUE)</a:t>
            </a:r>
            <a:endParaRPr lang="en-US" sz="1100" dirty="0"/>
          </a:p>
          <a:p>
            <a:pPr indent="0" marL="0">
              <a:spcAft>
                <a:spcPts val="100"/>
              </a:spcAft>
              <a:buNone/>
            </a:pPr>
            <a:r>
              <a:rPr lang="en-US" sz="1100" dirty="0">
                <a:solidFill>
                  <a:schemeClr val="tx1"/>
                </a:solidFill>
              </a:rPr>
              <a:t>password_hash CHAR(64)</a:t>
            </a:r>
            <a:endParaRPr lang="en-US" sz="1100" dirty="0"/>
          </a:p>
          <a:p>
            <a:pPr indent="0" marL="0">
              <a:spcAft>
                <a:spcPts val="100"/>
              </a:spcAft>
              <a:buNone/>
            </a:pPr>
            <a:r>
              <a:rPr lang="en-US" sz="1100" dirty="0">
                <a:solidFill>
                  <a:schemeClr val="tx1"/>
                </a:solidFill>
              </a:rPr>
              <a:t>role: ADMIN / STUDENT / COMPANY</a:t>
            </a:r>
            <a:endParaRPr lang="en-US" sz="1100" dirty="0"/>
          </a:p>
          <a:p>
            <a:pPr indent="0" marL="0">
              <a:spcAft>
                <a:spcPts val="100"/>
              </a:spcAft>
              <a:buNone/>
            </a:pPr>
            <a:r>
              <a:rPr lang="en-US" sz="1100" dirty="0">
                <a:solidFill>
                  <a:schemeClr val="tx1"/>
                </a:solidFill>
              </a:rPr>
              <a:t>status</a:t>
            </a:r>
            <a:endParaRPr lang="en-US" sz="1100" dirty="0"/>
          </a:p>
        </p:txBody>
      </p:sp>
      <p:sp>
        <p:nvSpPr>
          <p:cNvPr id="7" name="table students"/>
          <p:cNvSpPr/>
          <p:nvPr/>
        </p:nvSpPr>
        <p:spPr>
          <a:xfrm>
            <a:off x="548640" y="2971800"/>
            <a:ext cx="3200400" cy="1417320"/>
          </a:xfrm>
          <a:prstGeom prst="roundRect">
            <a:avLst>
              <a:gd name="adj" fmla="val 5161"/>
            </a:avLst>
          </a:prstGeom>
          <a:solidFill>
            <a:schemeClr val="bg1"/>
          </a:solidFill>
          <a:ln w="19050">
            <a:solidFill>
              <a:schemeClr val="accent3"/>
            </a:solidFill>
            <a:prstDash val="solid"/>
          </a:ln>
          <a:effectLst>
            <a:outerShdw sx="100000" sy="100000" kx="0" ky="0" algn="bl" rotWithShape="0" blurRad="101600" dist="25400" dir="5400000">
              <a:srgbClr val="0B1020">
                <a:alpha val="12000"/>
              </a:srgbClr>
            </a:outerShdw>
          </a:effectLst>
        </p:spPr>
      </p:sp>
      <p:sp>
        <p:nvSpPr>
          <p:cNvPr id="8" name="table header students"/>
          <p:cNvSpPr/>
          <p:nvPr/>
        </p:nvSpPr>
        <p:spPr>
          <a:xfrm>
            <a:off x="548640" y="2971800"/>
            <a:ext cx="3200400" cy="365760"/>
          </a:xfrm>
          <a:prstGeom prst="roundRect">
            <a:avLst>
              <a:gd name="adj" fmla="val 20000"/>
            </a:avLst>
          </a:prstGeom>
          <a:solidFill>
            <a:schemeClr val="accent3"/>
          </a:solidFill>
          <a:ln w="6350">
            <a:solidFill>
              <a:schemeClr val="accent3"/>
            </a:solidFill>
            <a:prstDash val="solid"/>
          </a:ln>
        </p:spPr>
      </p:sp>
      <p:sp>
        <p:nvSpPr>
          <p:cNvPr id="9" name="table name students"/>
          <p:cNvSpPr txBox="1"/>
          <p:nvPr/>
        </p:nvSpPr>
        <p:spPr>
          <a:xfrm>
            <a:off x="548640" y="2971800"/>
            <a:ext cx="3200400" cy="365760"/>
          </a:xfrm>
          <a:prstGeom prst="rect">
            <a:avLst/>
          </a:prstGeom>
          <a:noFill/>
          <a:ln/>
        </p:spPr>
        <p:txBody>
          <a:bodyPr wrap="square" lIns="0" tIns="0" rIns="0" bIns="0" rtlCol="0" anchor="ctr"/>
          <a:lstStyle/>
          <a:p>
            <a:pPr algn="ctr" indent="0" marL="0">
              <a:buNone/>
            </a:pPr>
            <a:r>
              <a:rPr lang="en-US" sz="1400" b="1" dirty="0">
                <a:solidFill>
                  <a:schemeClr val="bg1"/>
                </a:solidFill>
              </a:rPr>
              <a:t>students</a:t>
            </a:r>
            <a:endParaRPr lang="en-US" sz="1400" dirty="0"/>
          </a:p>
        </p:txBody>
      </p:sp>
      <p:sp>
        <p:nvSpPr>
          <p:cNvPr id="10" name="fields students"/>
          <p:cNvSpPr txBox="1"/>
          <p:nvPr/>
        </p:nvSpPr>
        <p:spPr>
          <a:xfrm>
            <a:off x="658368" y="3410712"/>
            <a:ext cx="3017520" cy="914400"/>
          </a:xfrm>
          <a:prstGeom prst="rect">
            <a:avLst/>
          </a:prstGeom>
          <a:noFill/>
          <a:ln/>
        </p:spPr>
        <p:txBody>
          <a:bodyPr wrap="square" lIns="0" tIns="0" rIns="0" bIns="0" rtlCol="0" anchor="t"/>
          <a:lstStyle/>
          <a:p>
            <a:pPr indent="0" marL="0">
              <a:spcAft>
                <a:spcPts val="100"/>
              </a:spcAft>
              <a:buNone/>
            </a:pPr>
            <a:r>
              <a:rPr lang="en-US" sz="1100" dirty="0">
                <a:solidFill>
                  <a:schemeClr val="tx1"/>
                </a:solidFill>
              </a:rPr>
              <a:t>id (PK)</a:t>
            </a:r>
            <a:endParaRPr lang="en-US" sz="1100" dirty="0"/>
          </a:p>
          <a:p>
            <a:pPr indent="0" marL="0">
              <a:spcAft>
                <a:spcPts val="100"/>
              </a:spcAft>
              <a:buNone/>
            </a:pPr>
            <a:r>
              <a:rPr lang="en-US" sz="1100" dirty="0">
                <a:solidFill>
                  <a:schemeClr val="tx1"/>
                </a:solidFill>
              </a:rPr>
              <a:t>user_id (FK → users)</a:t>
            </a:r>
            <a:endParaRPr lang="en-US" sz="1100" dirty="0"/>
          </a:p>
          <a:p>
            <a:pPr indent="0" marL="0">
              <a:spcAft>
                <a:spcPts val="100"/>
              </a:spcAft>
              <a:buNone/>
            </a:pPr>
            <a:r>
              <a:rPr lang="en-US" sz="1100" dirty="0">
                <a:solidFill>
                  <a:schemeClr val="tx1"/>
                </a:solidFill>
              </a:rPr>
              <a:t>roll_no (UNIQUE)</a:t>
            </a:r>
            <a:endParaRPr lang="en-US" sz="1100" dirty="0"/>
          </a:p>
          <a:p>
            <a:pPr indent="0" marL="0">
              <a:spcAft>
                <a:spcPts val="100"/>
              </a:spcAft>
              <a:buNone/>
            </a:pPr>
            <a:r>
              <a:rPr lang="en-US" sz="1100" dirty="0">
                <a:solidFill>
                  <a:schemeClr val="tx1"/>
                </a:solidFill>
              </a:rPr>
              <a:t>department, cgpa</a:t>
            </a:r>
            <a:endParaRPr lang="en-US" sz="1100" dirty="0"/>
          </a:p>
          <a:p>
            <a:pPr indent="0" marL="0">
              <a:spcAft>
                <a:spcPts val="100"/>
              </a:spcAft>
              <a:buNone/>
            </a:pPr>
            <a:r>
              <a:rPr lang="en-US" sz="1100" dirty="0">
                <a:solidFill>
                  <a:schemeClr val="tx1"/>
                </a:solidFill>
              </a:rPr>
              <a:t>passing_year, resume_url</a:t>
            </a:r>
            <a:endParaRPr lang="en-US" sz="1100" dirty="0"/>
          </a:p>
        </p:txBody>
      </p:sp>
      <p:sp>
        <p:nvSpPr>
          <p:cNvPr id="11" name="table companies"/>
          <p:cNvSpPr/>
          <p:nvPr/>
        </p:nvSpPr>
        <p:spPr>
          <a:xfrm>
            <a:off x="8412480" y="2971800"/>
            <a:ext cx="3200400" cy="1417320"/>
          </a:xfrm>
          <a:prstGeom prst="roundRect">
            <a:avLst>
              <a:gd name="adj" fmla="val 5161"/>
            </a:avLst>
          </a:prstGeom>
          <a:solidFill>
            <a:schemeClr val="bg1"/>
          </a:solidFill>
          <a:ln w="19050">
            <a:solidFill>
              <a:schemeClr val="accent2"/>
            </a:solidFill>
            <a:prstDash val="solid"/>
          </a:ln>
          <a:effectLst>
            <a:outerShdw sx="100000" sy="100000" kx="0" ky="0" algn="bl" rotWithShape="0" blurRad="101600" dist="25400" dir="5400000">
              <a:srgbClr val="0B1020">
                <a:alpha val="12000"/>
              </a:srgbClr>
            </a:outerShdw>
          </a:effectLst>
        </p:spPr>
      </p:sp>
      <p:sp>
        <p:nvSpPr>
          <p:cNvPr id="12" name="table header companies"/>
          <p:cNvSpPr/>
          <p:nvPr/>
        </p:nvSpPr>
        <p:spPr>
          <a:xfrm>
            <a:off x="8412480" y="2971800"/>
            <a:ext cx="3200400" cy="365760"/>
          </a:xfrm>
          <a:prstGeom prst="roundRect">
            <a:avLst>
              <a:gd name="adj" fmla="val 20000"/>
            </a:avLst>
          </a:prstGeom>
          <a:solidFill>
            <a:schemeClr val="accent2"/>
          </a:solidFill>
          <a:ln w="6350">
            <a:solidFill>
              <a:schemeClr val="accent2"/>
            </a:solidFill>
            <a:prstDash val="solid"/>
          </a:ln>
        </p:spPr>
      </p:sp>
      <p:sp>
        <p:nvSpPr>
          <p:cNvPr id="13" name="table name companies"/>
          <p:cNvSpPr txBox="1"/>
          <p:nvPr/>
        </p:nvSpPr>
        <p:spPr>
          <a:xfrm>
            <a:off x="8412480" y="2971800"/>
            <a:ext cx="3200400" cy="365760"/>
          </a:xfrm>
          <a:prstGeom prst="rect">
            <a:avLst/>
          </a:prstGeom>
          <a:noFill/>
          <a:ln/>
        </p:spPr>
        <p:txBody>
          <a:bodyPr wrap="square" lIns="0" tIns="0" rIns="0" bIns="0" rtlCol="0" anchor="ctr"/>
          <a:lstStyle/>
          <a:p>
            <a:pPr algn="ctr" indent="0" marL="0">
              <a:buNone/>
            </a:pPr>
            <a:r>
              <a:rPr lang="en-US" sz="1400" b="1" dirty="0">
                <a:solidFill>
                  <a:schemeClr val="bg1"/>
                </a:solidFill>
              </a:rPr>
              <a:t>companies</a:t>
            </a:r>
            <a:endParaRPr lang="en-US" sz="1400" dirty="0"/>
          </a:p>
        </p:txBody>
      </p:sp>
      <p:sp>
        <p:nvSpPr>
          <p:cNvPr id="14" name="fields companies"/>
          <p:cNvSpPr txBox="1"/>
          <p:nvPr/>
        </p:nvSpPr>
        <p:spPr>
          <a:xfrm>
            <a:off x="8522208" y="3410712"/>
            <a:ext cx="3017520" cy="914400"/>
          </a:xfrm>
          <a:prstGeom prst="rect">
            <a:avLst/>
          </a:prstGeom>
          <a:noFill/>
          <a:ln/>
        </p:spPr>
        <p:txBody>
          <a:bodyPr wrap="square" lIns="0" tIns="0" rIns="0" bIns="0" rtlCol="0" anchor="t"/>
          <a:lstStyle/>
          <a:p>
            <a:pPr indent="0" marL="0">
              <a:spcAft>
                <a:spcPts val="100"/>
              </a:spcAft>
              <a:buNone/>
            </a:pPr>
            <a:r>
              <a:rPr lang="en-US" sz="1100" dirty="0">
                <a:solidFill>
                  <a:schemeClr val="tx1"/>
                </a:solidFill>
              </a:rPr>
              <a:t>id (PK)</a:t>
            </a:r>
            <a:endParaRPr lang="en-US" sz="1100" dirty="0"/>
          </a:p>
          <a:p>
            <a:pPr indent="0" marL="0">
              <a:spcAft>
                <a:spcPts val="100"/>
              </a:spcAft>
              <a:buNone/>
            </a:pPr>
            <a:r>
              <a:rPr lang="en-US" sz="1100" dirty="0">
                <a:solidFill>
                  <a:schemeClr val="tx1"/>
                </a:solidFill>
              </a:rPr>
              <a:t>user_id (FK → users)</a:t>
            </a:r>
            <a:endParaRPr lang="en-US" sz="1100" dirty="0"/>
          </a:p>
          <a:p>
            <a:pPr indent="0" marL="0">
              <a:spcAft>
                <a:spcPts val="100"/>
              </a:spcAft>
              <a:buNone/>
            </a:pPr>
            <a:r>
              <a:rPr lang="en-US" sz="1100" dirty="0">
                <a:solidFill>
                  <a:schemeClr val="tx1"/>
                </a:solidFill>
              </a:rPr>
              <a:t>company_name, industry</a:t>
            </a:r>
            <a:endParaRPr lang="en-US" sz="1100" dirty="0"/>
          </a:p>
          <a:p>
            <a:pPr indent="0" marL="0">
              <a:spcAft>
                <a:spcPts val="100"/>
              </a:spcAft>
              <a:buNone/>
            </a:pPr>
            <a:r>
              <a:rPr lang="en-US" sz="1100" dirty="0">
                <a:solidFill>
                  <a:schemeClr val="tx1"/>
                </a:solidFill>
              </a:rPr>
              <a:t>contact_person</a:t>
            </a:r>
            <a:endParaRPr lang="en-US" sz="1100" dirty="0"/>
          </a:p>
          <a:p>
            <a:pPr indent="0" marL="0">
              <a:spcAft>
                <a:spcPts val="100"/>
              </a:spcAft>
              <a:buNone/>
            </a:pPr>
            <a:r>
              <a:rPr lang="en-US" sz="1100" dirty="0">
                <a:solidFill>
                  <a:schemeClr val="tx1"/>
                </a:solidFill>
              </a:rPr>
              <a:t>approval_status: PENDING / APPROVED / REJECTED</a:t>
            </a:r>
            <a:endParaRPr lang="en-US" sz="1100" dirty="0"/>
          </a:p>
        </p:txBody>
      </p:sp>
      <p:sp>
        <p:nvSpPr>
          <p:cNvPr id="15" name="table applications"/>
          <p:cNvSpPr/>
          <p:nvPr/>
        </p:nvSpPr>
        <p:spPr>
          <a:xfrm>
            <a:off x="548640" y="4754880"/>
            <a:ext cx="3840480" cy="1463040"/>
          </a:xfrm>
          <a:prstGeom prst="roundRect">
            <a:avLst>
              <a:gd name="adj" fmla="val 5000"/>
            </a:avLst>
          </a:prstGeom>
          <a:solidFill>
            <a:schemeClr val="bg1"/>
          </a:solidFill>
          <a:ln w="19050">
            <a:solidFill>
              <a:schemeClr val="accent4"/>
            </a:solidFill>
            <a:prstDash val="solid"/>
          </a:ln>
          <a:effectLst>
            <a:outerShdw sx="100000" sy="100000" kx="0" ky="0" algn="bl" rotWithShape="0" blurRad="101600" dist="25400" dir="5400000">
              <a:srgbClr val="0B1020">
                <a:alpha val="12000"/>
              </a:srgbClr>
            </a:outerShdw>
          </a:effectLst>
        </p:spPr>
      </p:sp>
      <p:sp>
        <p:nvSpPr>
          <p:cNvPr id="16" name="table header applications"/>
          <p:cNvSpPr/>
          <p:nvPr/>
        </p:nvSpPr>
        <p:spPr>
          <a:xfrm>
            <a:off x="548640" y="4754880"/>
            <a:ext cx="3840480" cy="365760"/>
          </a:xfrm>
          <a:prstGeom prst="roundRect">
            <a:avLst>
              <a:gd name="adj" fmla="val 20000"/>
            </a:avLst>
          </a:prstGeom>
          <a:solidFill>
            <a:schemeClr val="accent4"/>
          </a:solidFill>
          <a:ln w="6350">
            <a:solidFill>
              <a:schemeClr val="accent4"/>
            </a:solidFill>
            <a:prstDash val="solid"/>
          </a:ln>
        </p:spPr>
      </p:sp>
      <p:sp>
        <p:nvSpPr>
          <p:cNvPr id="17" name="table name applications"/>
          <p:cNvSpPr txBox="1"/>
          <p:nvPr/>
        </p:nvSpPr>
        <p:spPr>
          <a:xfrm>
            <a:off x="548640" y="4754880"/>
            <a:ext cx="3840480" cy="365760"/>
          </a:xfrm>
          <a:prstGeom prst="rect">
            <a:avLst/>
          </a:prstGeom>
          <a:noFill/>
          <a:ln/>
        </p:spPr>
        <p:txBody>
          <a:bodyPr wrap="square" lIns="0" tIns="0" rIns="0" bIns="0" rtlCol="0" anchor="ctr"/>
          <a:lstStyle/>
          <a:p>
            <a:pPr algn="ctr" indent="0" marL="0">
              <a:buNone/>
            </a:pPr>
            <a:r>
              <a:rPr lang="en-US" sz="1400" b="1" dirty="0">
                <a:solidFill>
                  <a:schemeClr val="bg1"/>
                </a:solidFill>
              </a:rPr>
              <a:t>applications</a:t>
            </a:r>
            <a:endParaRPr lang="en-US" sz="1400" dirty="0"/>
          </a:p>
        </p:txBody>
      </p:sp>
      <p:sp>
        <p:nvSpPr>
          <p:cNvPr id="18" name="fields applications"/>
          <p:cNvSpPr txBox="1"/>
          <p:nvPr/>
        </p:nvSpPr>
        <p:spPr>
          <a:xfrm>
            <a:off x="658368" y="5193792"/>
            <a:ext cx="3657600" cy="960120"/>
          </a:xfrm>
          <a:prstGeom prst="rect">
            <a:avLst/>
          </a:prstGeom>
          <a:noFill/>
          <a:ln/>
        </p:spPr>
        <p:txBody>
          <a:bodyPr wrap="square" lIns="0" tIns="0" rIns="0" bIns="0" rtlCol="0" anchor="t"/>
          <a:lstStyle/>
          <a:p>
            <a:pPr indent="0" marL="0">
              <a:spcAft>
                <a:spcPts val="100"/>
              </a:spcAft>
              <a:buNone/>
            </a:pPr>
            <a:r>
              <a:rPr lang="en-US" sz="1100" dirty="0">
                <a:solidFill>
                  <a:schemeClr val="tx1"/>
                </a:solidFill>
              </a:rPr>
              <a:t>id (PK)</a:t>
            </a:r>
            <a:endParaRPr lang="en-US" sz="1100" dirty="0"/>
          </a:p>
          <a:p>
            <a:pPr indent="0" marL="0">
              <a:spcAft>
                <a:spcPts val="100"/>
              </a:spcAft>
              <a:buNone/>
            </a:pPr>
            <a:r>
              <a:rPr lang="en-US" sz="1100" dirty="0">
                <a:solidFill>
                  <a:schemeClr val="tx1"/>
                </a:solidFill>
              </a:rPr>
              <a:t>student_id (FK → students)</a:t>
            </a:r>
            <a:endParaRPr lang="en-US" sz="1100" dirty="0"/>
          </a:p>
          <a:p>
            <a:pPr indent="0" marL="0">
              <a:spcAft>
                <a:spcPts val="100"/>
              </a:spcAft>
              <a:buNone/>
            </a:pPr>
            <a:r>
              <a:rPr lang="en-US" sz="1100" dirty="0">
                <a:solidFill>
                  <a:schemeClr val="tx1"/>
                </a:solidFill>
              </a:rPr>
              <a:t>posting_type (JOB / INTERNSHIP), posting_id</a:t>
            </a:r>
            <a:endParaRPr lang="en-US" sz="1100" dirty="0"/>
          </a:p>
          <a:p>
            <a:pPr indent="0" marL="0">
              <a:spcAft>
                <a:spcPts val="100"/>
              </a:spcAft>
              <a:buNone/>
            </a:pPr>
            <a:r>
              <a:rPr lang="en-US" sz="1100" dirty="0">
                <a:solidFill>
                  <a:schemeClr val="tx1"/>
                </a:solidFill>
              </a:rPr>
              <a:t>status, applied_date, remarks</a:t>
            </a:r>
            <a:endParaRPr lang="en-US" sz="1100" dirty="0"/>
          </a:p>
          <a:p>
            <a:pPr indent="0" marL="0">
              <a:spcAft>
                <a:spcPts val="100"/>
              </a:spcAft>
              <a:buNone/>
            </a:pPr>
            <a:r>
              <a:rPr lang="en-US" sz="1100" dirty="0">
                <a:solidFill>
                  <a:schemeClr val="tx1"/>
                </a:solidFill>
              </a:rPr>
              <a:t>UNIQUE: student + posting</a:t>
            </a:r>
            <a:endParaRPr lang="en-US" sz="1100" dirty="0"/>
          </a:p>
        </p:txBody>
      </p:sp>
      <p:sp>
        <p:nvSpPr>
          <p:cNvPr id="19" name="table jobs"/>
          <p:cNvSpPr/>
          <p:nvPr/>
        </p:nvSpPr>
        <p:spPr>
          <a:xfrm>
            <a:off x="4892040" y="4754880"/>
            <a:ext cx="3200400" cy="1463040"/>
          </a:xfrm>
          <a:prstGeom prst="roundRect">
            <a:avLst>
              <a:gd name="adj" fmla="val 5000"/>
            </a:avLst>
          </a:prstGeom>
          <a:solidFill>
            <a:schemeClr val="bg1"/>
          </a:solidFill>
          <a:ln w="19050">
            <a:solidFill>
              <a:schemeClr val="accent5"/>
            </a:solidFill>
            <a:prstDash val="solid"/>
          </a:ln>
          <a:effectLst>
            <a:outerShdw sx="100000" sy="100000" kx="0" ky="0" algn="bl" rotWithShape="0" blurRad="101600" dist="25400" dir="5400000">
              <a:srgbClr val="0B1020">
                <a:alpha val="12000"/>
              </a:srgbClr>
            </a:outerShdw>
          </a:effectLst>
        </p:spPr>
      </p:sp>
      <p:sp>
        <p:nvSpPr>
          <p:cNvPr id="20" name="table header jobs"/>
          <p:cNvSpPr/>
          <p:nvPr/>
        </p:nvSpPr>
        <p:spPr>
          <a:xfrm>
            <a:off x="4892040" y="4754880"/>
            <a:ext cx="3200400" cy="365760"/>
          </a:xfrm>
          <a:prstGeom prst="roundRect">
            <a:avLst>
              <a:gd name="adj" fmla="val 20000"/>
            </a:avLst>
          </a:prstGeom>
          <a:solidFill>
            <a:schemeClr val="accent5"/>
          </a:solidFill>
          <a:ln w="6350">
            <a:solidFill>
              <a:schemeClr val="accent5"/>
            </a:solidFill>
            <a:prstDash val="solid"/>
          </a:ln>
        </p:spPr>
      </p:sp>
      <p:sp>
        <p:nvSpPr>
          <p:cNvPr id="21" name="table name jobs"/>
          <p:cNvSpPr txBox="1"/>
          <p:nvPr/>
        </p:nvSpPr>
        <p:spPr>
          <a:xfrm>
            <a:off x="4892040" y="4754880"/>
            <a:ext cx="3200400" cy="365760"/>
          </a:xfrm>
          <a:prstGeom prst="rect">
            <a:avLst/>
          </a:prstGeom>
          <a:noFill/>
          <a:ln/>
        </p:spPr>
        <p:txBody>
          <a:bodyPr wrap="square" lIns="0" tIns="0" rIns="0" bIns="0" rtlCol="0" anchor="ctr"/>
          <a:lstStyle/>
          <a:p>
            <a:pPr algn="ctr" indent="0" marL="0">
              <a:buNone/>
            </a:pPr>
            <a:r>
              <a:rPr lang="en-US" sz="1400" b="1" dirty="0">
                <a:solidFill>
                  <a:schemeClr val="bg1"/>
                </a:solidFill>
              </a:rPr>
              <a:t>jobs</a:t>
            </a:r>
            <a:endParaRPr lang="en-US" sz="1400" dirty="0"/>
          </a:p>
        </p:txBody>
      </p:sp>
      <p:sp>
        <p:nvSpPr>
          <p:cNvPr id="22" name="fields jobs"/>
          <p:cNvSpPr txBox="1"/>
          <p:nvPr/>
        </p:nvSpPr>
        <p:spPr>
          <a:xfrm>
            <a:off x="5001768" y="5193792"/>
            <a:ext cx="3017520" cy="960120"/>
          </a:xfrm>
          <a:prstGeom prst="rect">
            <a:avLst/>
          </a:prstGeom>
          <a:noFill/>
          <a:ln/>
        </p:spPr>
        <p:txBody>
          <a:bodyPr wrap="square" lIns="0" tIns="0" rIns="0" bIns="0" rtlCol="0" anchor="t"/>
          <a:lstStyle/>
          <a:p>
            <a:pPr indent="0" marL="0">
              <a:spcAft>
                <a:spcPts val="100"/>
              </a:spcAft>
              <a:buNone/>
            </a:pPr>
            <a:r>
              <a:rPr lang="en-US" sz="1100" dirty="0">
                <a:solidFill>
                  <a:schemeClr val="tx1"/>
                </a:solidFill>
              </a:rPr>
              <a:t>id (PK), company_id (FK)</a:t>
            </a:r>
            <a:endParaRPr lang="en-US" sz="1100" dirty="0"/>
          </a:p>
          <a:p>
            <a:pPr indent="0" marL="0">
              <a:spcAft>
                <a:spcPts val="100"/>
              </a:spcAft>
              <a:buNone/>
            </a:pPr>
            <a:r>
              <a:rPr lang="en-US" sz="1100" dirty="0">
                <a:solidFill>
                  <a:schemeClr val="tx1"/>
                </a:solidFill>
              </a:rPr>
              <a:t>title, package_lpa</a:t>
            </a:r>
            <a:endParaRPr lang="en-US" sz="1100" dirty="0"/>
          </a:p>
          <a:p>
            <a:pPr indent="0" marL="0">
              <a:spcAft>
                <a:spcPts val="100"/>
              </a:spcAft>
              <a:buNone/>
            </a:pPr>
            <a:r>
              <a:rPr lang="en-US" sz="1100" dirty="0">
                <a:solidFill>
                  <a:schemeClr val="tx1"/>
                </a:solidFill>
              </a:rPr>
              <a:t>min_cgpa, allowed_branches</a:t>
            </a:r>
            <a:endParaRPr lang="en-US" sz="1100" dirty="0"/>
          </a:p>
          <a:p>
            <a:pPr indent="0" marL="0">
              <a:spcAft>
                <a:spcPts val="100"/>
              </a:spcAft>
              <a:buNone/>
            </a:pPr>
            <a:r>
              <a:rPr lang="en-US" sz="1100" dirty="0">
                <a:solidFill>
                  <a:schemeClr val="tx1"/>
                </a:solidFill>
              </a:rPr>
              <a:t>openings, deadline, status</a:t>
            </a:r>
            <a:endParaRPr lang="en-US" sz="1100" dirty="0"/>
          </a:p>
        </p:txBody>
      </p:sp>
      <p:sp>
        <p:nvSpPr>
          <p:cNvPr id="23" name="table internships"/>
          <p:cNvSpPr/>
          <p:nvPr/>
        </p:nvSpPr>
        <p:spPr>
          <a:xfrm>
            <a:off x="8412480" y="4754880"/>
            <a:ext cx="3200400" cy="1463040"/>
          </a:xfrm>
          <a:prstGeom prst="roundRect">
            <a:avLst>
              <a:gd name="adj" fmla="val 5000"/>
            </a:avLst>
          </a:prstGeom>
          <a:solidFill>
            <a:schemeClr val="bg1"/>
          </a:solidFill>
          <a:ln w="19050">
            <a:solidFill>
              <a:schemeClr val="accent5"/>
            </a:solidFill>
            <a:prstDash val="solid"/>
          </a:ln>
          <a:effectLst>
            <a:outerShdw sx="100000" sy="100000" kx="0" ky="0" algn="bl" rotWithShape="0" blurRad="101600" dist="25400" dir="5400000">
              <a:srgbClr val="0B1020">
                <a:alpha val="12000"/>
              </a:srgbClr>
            </a:outerShdw>
          </a:effectLst>
        </p:spPr>
      </p:sp>
      <p:sp>
        <p:nvSpPr>
          <p:cNvPr id="24" name="table header internships"/>
          <p:cNvSpPr/>
          <p:nvPr/>
        </p:nvSpPr>
        <p:spPr>
          <a:xfrm>
            <a:off x="8412480" y="4754880"/>
            <a:ext cx="3200400" cy="365760"/>
          </a:xfrm>
          <a:prstGeom prst="roundRect">
            <a:avLst>
              <a:gd name="adj" fmla="val 20000"/>
            </a:avLst>
          </a:prstGeom>
          <a:solidFill>
            <a:schemeClr val="accent5"/>
          </a:solidFill>
          <a:ln w="6350">
            <a:solidFill>
              <a:schemeClr val="accent5"/>
            </a:solidFill>
            <a:prstDash val="solid"/>
          </a:ln>
        </p:spPr>
      </p:sp>
      <p:sp>
        <p:nvSpPr>
          <p:cNvPr id="25" name="table name internships"/>
          <p:cNvSpPr txBox="1"/>
          <p:nvPr/>
        </p:nvSpPr>
        <p:spPr>
          <a:xfrm>
            <a:off x="8412480" y="4754880"/>
            <a:ext cx="3200400" cy="365760"/>
          </a:xfrm>
          <a:prstGeom prst="rect">
            <a:avLst/>
          </a:prstGeom>
          <a:noFill/>
          <a:ln/>
        </p:spPr>
        <p:txBody>
          <a:bodyPr wrap="square" lIns="0" tIns="0" rIns="0" bIns="0" rtlCol="0" anchor="ctr"/>
          <a:lstStyle/>
          <a:p>
            <a:pPr algn="ctr" indent="0" marL="0">
              <a:buNone/>
            </a:pPr>
            <a:r>
              <a:rPr lang="en-US" sz="1400" b="1" dirty="0">
                <a:solidFill>
                  <a:schemeClr val="bg1"/>
                </a:solidFill>
              </a:rPr>
              <a:t>internships</a:t>
            </a:r>
            <a:endParaRPr lang="en-US" sz="1400" dirty="0"/>
          </a:p>
        </p:txBody>
      </p:sp>
      <p:sp>
        <p:nvSpPr>
          <p:cNvPr id="26" name="fields internships"/>
          <p:cNvSpPr txBox="1"/>
          <p:nvPr/>
        </p:nvSpPr>
        <p:spPr>
          <a:xfrm>
            <a:off x="8522208" y="5193792"/>
            <a:ext cx="3017520" cy="960120"/>
          </a:xfrm>
          <a:prstGeom prst="rect">
            <a:avLst/>
          </a:prstGeom>
          <a:noFill/>
          <a:ln/>
        </p:spPr>
        <p:txBody>
          <a:bodyPr wrap="square" lIns="0" tIns="0" rIns="0" bIns="0" rtlCol="0" anchor="t"/>
          <a:lstStyle/>
          <a:p>
            <a:pPr indent="0" marL="0">
              <a:spcAft>
                <a:spcPts val="100"/>
              </a:spcAft>
              <a:buNone/>
            </a:pPr>
            <a:r>
              <a:rPr lang="en-US" sz="1100" dirty="0">
                <a:solidFill>
                  <a:schemeClr val="tx1"/>
                </a:solidFill>
              </a:rPr>
              <a:t>id (PK), company_id (FK)</a:t>
            </a:r>
            <a:endParaRPr lang="en-US" sz="1100" dirty="0"/>
          </a:p>
          <a:p>
            <a:pPr indent="0" marL="0">
              <a:spcAft>
                <a:spcPts val="100"/>
              </a:spcAft>
              <a:buNone/>
            </a:pPr>
            <a:r>
              <a:rPr lang="en-US" sz="1100" dirty="0">
                <a:solidFill>
                  <a:schemeClr val="tx1"/>
                </a:solidFill>
              </a:rPr>
              <a:t>title, stipend_per_month</a:t>
            </a:r>
            <a:endParaRPr lang="en-US" sz="1100" dirty="0"/>
          </a:p>
          <a:p>
            <a:pPr indent="0" marL="0">
              <a:spcAft>
                <a:spcPts val="100"/>
              </a:spcAft>
              <a:buNone/>
            </a:pPr>
            <a:r>
              <a:rPr lang="en-US" sz="1100" dirty="0">
                <a:solidFill>
                  <a:schemeClr val="tx1"/>
                </a:solidFill>
              </a:rPr>
              <a:t>duration_months, min_cgpa</a:t>
            </a:r>
            <a:endParaRPr lang="en-US" sz="1100" dirty="0"/>
          </a:p>
          <a:p>
            <a:pPr indent="0" marL="0">
              <a:spcAft>
                <a:spcPts val="100"/>
              </a:spcAft>
              <a:buNone/>
            </a:pPr>
            <a:r>
              <a:rPr lang="en-US" sz="1100" dirty="0">
                <a:solidFill>
                  <a:schemeClr val="tx1"/>
                </a:solidFill>
              </a:rPr>
              <a:t>deadline, status</a:t>
            </a:r>
            <a:endParaRPr lang="en-US" sz="1100" dirty="0"/>
          </a:p>
        </p:txBody>
      </p:sp>
      <p:sp>
        <p:nvSpPr>
          <p:cNvPr id="27" name="relation line"/>
          <p:cNvSpPr/>
          <p:nvPr/>
        </p:nvSpPr>
        <p:spPr>
          <a:xfrm flipH="1">
            <a:off x="2148840" y="2103120"/>
            <a:ext cx="2423160" cy="868680"/>
          </a:xfrm>
          <a:prstGeom prst="line">
            <a:avLst/>
          </a:prstGeom>
          <a:noFill/>
          <a:ln w="19050">
            <a:solidFill>
              <a:schemeClr val="accent6"/>
            </a:solidFill>
            <a:prstDash val="solid"/>
            <a:tailEnd type="triangle"/>
          </a:ln>
        </p:spPr>
      </p:sp>
      <p:sp>
        <p:nvSpPr>
          <p:cNvPr id="28" name="relation line"/>
          <p:cNvSpPr/>
          <p:nvPr/>
        </p:nvSpPr>
        <p:spPr>
          <a:xfrm>
            <a:off x="7589520" y="2103120"/>
            <a:ext cx="2423160" cy="868680"/>
          </a:xfrm>
          <a:prstGeom prst="line">
            <a:avLst/>
          </a:prstGeom>
          <a:noFill/>
          <a:ln w="19050">
            <a:solidFill>
              <a:schemeClr val="accent6"/>
            </a:solidFill>
            <a:prstDash val="solid"/>
            <a:tailEnd type="triangle"/>
          </a:ln>
        </p:spPr>
      </p:sp>
      <p:sp>
        <p:nvSpPr>
          <p:cNvPr id="29" name="relation line"/>
          <p:cNvSpPr/>
          <p:nvPr/>
        </p:nvSpPr>
        <p:spPr>
          <a:xfrm>
            <a:off x="2148840" y="4389120"/>
            <a:ext cx="0" cy="365760"/>
          </a:xfrm>
          <a:prstGeom prst="line">
            <a:avLst/>
          </a:prstGeom>
          <a:noFill/>
          <a:ln w="19050">
            <a:solidFill>
              <a:schemeClr val="accent6"/>
            </a:solidFill>
            <a:prstDash val="solid"/>
            <a:tailEnd type="triangle"/>
          </a:ln>
        </p:spPr>
      </p:sp>
      <p:sp>
        <p:nvSpPr>
          <p:cNvPr id="30" name="relation line"/>
          <p:cNvSpPr/>
          <p:nvPr/>
        </p:nvSpPr>
        <p:spPr>
          <a:xfrm>
            <a:off x="10012680" y="4389120"/>
            <a:ext cx="0" cy="365760"/>
          </a:xfrm>
          <a:prstGeom prst="line">
            <a:avLst/>
          </a:prstGeom>
          <a:noFill/>
          <a:ln w="19050">
            <a:solidFill>
              <a:schemeClr val="accent6"/>
            </a:solidFill>
            <a:prstDash val="solid"/>
            <a:tailEnd type="triangle"/>
          </a:ln>
        </p:spPr>
      </p:sp>
      <p:sp>
        <p:nvSpPr>
          <p:cNvPr id="31" name="relation line"/>
          <p:cNvSpPr/>
          <p:nvPr/>
        </p:nvSpPr>
        <p:spPr>
          <a:xfrm flipH="1">
            <a:off x="6492240" y="3931920"/>
            <a:ext cx="1920240" cy="822960"/>
          </a:xfrm>
          <a:prstGeom prst="line">
            <a:avLst/>
          </a:prstGeom>
          <a:noFill/>
          <a:ln w="19050">
            <a:solidFill>
              <a:schemeClr val="accent6"/>
            </a:solidFill>
            <a:prstDash val="solid"/>
            <a:tailEnd type="triangle"/>
          </a:ln>
        </p:spPr>
      </p:sp>
      <p:sp>
        <p:nvSpPr>
          <p:cNvPr id="32" name="schema note"/>
          <p:cNvSpPr txBox="1"/>
          <p:nvPr/>
        </p:nvSpPr>
        <p:spPr>
          <a:xfrm>
            <a:off x="4206240" y="3291840"/>
            <a:ext cx="3840480" cy="822960"/>
          </a:xfrm>
          <a:prstGeom prst="rect">
            <a:avLst/>
          </a:prstGeom>
          <a:noFill/>
          <a:ln/>
        </p:spPr>
        <p:txBody>
          <a:bodyPr wrap="square" lIns="0" tIns="0" rIns="0" bIns="0" rtlCol="0" anchor="t"/>
          <a:lstStyle/>
          <a:p>
            <a:pPr algn="ctr" indent="0" marL="0">
              <a:buNone/>
            </a:pPr>
            <a:r>
              <a:rPr lang="en-US" sz="1200" i="1" dirty="0">
                <a:solidFill>
                  <a:schemeClr val="accent6"/>
                </a:solidFill>
              </a:rPr>
              <a:t>applications reaches a job or internship through posting_type + posting_id (no foreign key)</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Application Lifecycle</a:t>
            </a:r>
            <a:endParaRPr lang="en-US" sz="3400" dirty="0"/>
          </a:p>
        </p:txBody>
      </p:sp>
      <p:sp>
        <p:nvSpPr>
          <p:cNvPr id="3" name="state PENDING"/>
          <p:cNvSpPr/>
          <p:nvPr/>
        </p:nvSpPr>
        <p:spPr>
          <a:xfrm>
            <a:off x="548640" y="1737360"/>
            <a:ext cx="2651760" cy="914400"/>
          </a:xfrm>
          <a:prstGeom prst="roundRect">
            <a:avLst>
              <a:gd name="adj" fmla="val 14000"/>
            </a:avLst>
          </a:prstGeom>
          <a:solidFill>
            <a:schemeClr val="accent6"/>
          </a:solidFill>
          <a:ln w="6350">
            <a:solidFill>
              <a:schemeClr val="accent6"/>
            </a:solidFill>
            <a:prstDash val="solid"/>
          </a:ln>
          <a:effectLst>
            <a:outerShdw sx="100000" sy="100000" kx="0" ky="0" algn="bl" rotWithShape="0" blurRad="101600" dist="25400" dir="5400000">
              <a:srgbClr val="0B1020">
                <a:alpha val="12000"/>
              </a:srgbClr>
            </a:outerShdw>
          </a:effectLst>
        </p:spPr>
      </p:sp>
      <p:sp>
        <p:nvSpPr>
          <p:cNvPr id="4" name="state label PENDING"/>
          <p:cNvSpPr txBox="1"/>
          <p:nvPr/>
        </p:nvSpPr>
        <p:spPr>
          <a:xfrm>
            <a:off x="548640" y="1737360"/>
            <a:ext cx="2651760" cy="914400"/>
          </a:xfrm>
          <a:prstGeom prst="rect">
            <a:avLst/>
          </a:prstGeom>
          <a:noFill/>
          <a:ln/>
        </p:spPr>
        <p:txBody>
          <a:bodyPr wrap="square" lIns="635" tIns="635" rIns="635" bIns="635" rtlCol="0" anchor="ctr"/>
          <a:lstStyle/>
          <a:p>
            <a:pPr algn="ctr" indent="0" marL="0">
              <a:buNone/>
            </a:pPr>
            <a:r>
              <a:rPr lang="en-US" sz="1800" b="1" dirty="0">
                <a:solidFill>
                  <a:schemeClr val="bg1"/>
                </a:solidFill>
              </a:rPr>
              <a:t>PENDING</a:t>
            </a:r>
            <a:endParaRPr lang="en-US" sz="1800" dirty="0"/>
          </a:p>
        </p:txBody>
      </p:sp>
      <p:sp>
        <p:nvSpPr>
          <p:cNvPr id="5" name="actor of PENDING"/>
          <p:cNvSpPr txBox="1"/>
          <p:nvPr/>
        </p:nvSpPr>
        <p:spPr>
          <a:xfrm>
            <a:off x="548640" y="1371600"/>
            <a:ext cx="2651760" cy="320040"/>
          </a:xfrm>
          <a:prstGeom prst="rect">
            <a:avLst/>
          </a:prstGeom>
          <a:noFill/>
          <a:ln/>
        </p:spPr>
        <p:txBody>
          <a:bodyPr wrap="square" lIns="0" tIns="0" rIns="0" bIns="0" rtlCol="0" anchor="ctr"/>
          <a:lstStyle/>
          <a:p>
            <a:pPr algn="ctr" indent="0" marL="0">
              <a:buNone/>
            </a:pPr>
            <a:r>
              <a:rPr lang="en-US" sz="1300" dirty="0">
                <a:solidFill>
                  <a:schemeClr val="accent6"/>
                </a:solidFill>
              </a:rPr>
              <a:t>Student applies</a:t>
            </a:r>
            <a:endParaRPr lang="en-US" sz="1300" dirty="0"/>
          </a:p>
        </p:txBody>
      </p:sp>
      <p:sp>
        <p:nvSpPr>
          <p:cNvPr id="6" name="arrow"/>
          <p:cNvSpPr/>
          <p:nvPr/>
        </p:nvSpPr>
        <p:spPr>
          <a:xfrm>
            <a:off x="3246120" y="2194560"/>
            <a:ext cx="365760" cy="0"/>
          </a:xfrm>
          <a:prstGeom prst="line">
            <a:avLst/>
          </a:prstGeom>
          <a:noFill/>
          <a:ln w="22225">
            <a:solidFill>
              <a:schemeClr val="accent6"/>
            </a:solidFill>
            <a:prstDash val="solid"/>
            <a:tailEnd type="triangle"/>
          </a:ln>
        </p:spPr>
      </p:sp>
      <p:sp>
        <p:nvSpPr>
          <p:cNvPr id="7" name="state SHORTLISTED"/>
          <p:cNvSpPr/>
          <p:nvPr/>
        </p:nvSpPr>
        <p:spPr>
          <a:xfrm>
            <a:off x="3657600" y="1737360"/>
            <a:ext cx="2651760" cy="914400"/>
          </a:xfrm>
          <a:prstGeom prst="roundRect">
            <a:avLst>
              <a:gd name="adj" fmla="val 14000"/>
            </a:avLst>
          </a:prstGeom>
          <a:solidFill>
            <a:schemeClr val="accent1"/>
          </a:solidFill>
          <a:ln w="6350">
            <a:solidFill>
              <a:schemeClr val="accent1"/>
            </a:solidFill>
            <a:prstDash val="solid"/>
          </a:ln>
          <a:effectLst>
            <a:outerShdw sx="100000" sy="100000" kx="0" ky="0" algn="bl" rotWithShape="0" blurRad="101600" dist="25400" dir="5400000">
              <a:srgbClr val="0B1020">
                <a:alpha val="12000"/>
              </a:srgbClr>
            </a:outerShdw>
          </a:effectLst>
        </p:spPr>
      </p:sp>
      <p:sp>
        <p:nvSpPr>
          <p:cNvPr id="8" name="state label SHORTLISTED"/>
          <p:cNvSpPr txBox="1"/>
          <p:nvPr/>
        </p:nvSpPr>
        <p:spPr>
          <a:xfrm>
            <a:off x="3657600" y="1737360"/>
            <a:ext cx="2651760" cy="914400"/>
          </a:xfrm>
          <a:prstGeom prst="rect">
            <a:avLst/>
          </a:prstGeom>
          <a:noFill/>
          <a:ln/>
        </p:spPr>
        <p:txBody>
          <a:bodyPr wrap="square" lIns="635" tIns="635" rIns="635" bIns="635" rtlCol="0" anchor="ctr"/>
          <a:lstStyle/>
          <a:p>
            <a:pPr algn="ctr" indent="0" marL="0">
              <a:buNone/>
            </a:pPr>
            <a:r>
              <a:rPr lang="en-US" sz="1800" b="1" dirty="0">
                <a:solidFill>
                  <a:schemeClr val="bg1"/>
                </a:solidFill>
              </a:rPr>
              <a:t>SHORTLISTED</a:t>
            </a:r>
            <a:endParaRPr lang="en-US" sz="1800" dirty="0"/>
          </a:p>
        </p:txBody>
      </p:sp>
      <p:sp>
        <p:nvSpPr>
          <p:cNvPr id="9" name="actor of SHORTLISTED"/>
          <p:cNvSpPr txBox="1"/>
          <p:nvPr/>
        </p:nvSpPr>
        <p:spPr>
          <a:xfrm>
            <a:off x="3657600" y="1371600"/>
            <a:ext cx="2651760" cy="320040"/>
          </a:xfrm>
          <a:prstGeom prst="rect">
            <a:avLst/>
          </a:prstGeom>
          <a:noFill/>
          <a:ln/>
        </p:spPr>
        <p:txBody>
          <a:bodyPr wrap="square" lIns="0" tIns="0" rIns="0" bIns="0" rtlCol="0" anchor="ctr"/>
          <a:lstStyle/>
          <a:p>
            <a:pPr algn="ctr" indent="0" marL="0">
              <a:buNone/>
            </a:pPr>
            <a:r>
              <a:rPr lang="en-US" sz="1300" dirty="0">
                <a:solidFill>
                  <a:schemeClr val="accent6"/>
                </a:solidFill>
              </a:rPr>
              <a:t>Recruiter</a:t>
            </a:r>
            <a:endParaRPr lang="en-US" sz="1300" dirty="0"/>
          </a:p>
        </p:txBody>
      </p:sp>
      <p:sp>
        <p:nvSpPr>
          <p:cNvPr id="10" name="arrow"/>
          <p:cNvSpPr/>
          <p:nvPr/>
        </p:nvSpPr>
        <p:spPr>
          <a:xfrm>
            <a:off x="6355080" y="2194560"/>
            <a:ext cx="365760" cy="0"/>
          </a:xfrm>
          <a:prstGeom prst="line">
            <a:avLst/>
          </a:prstGeom>
          <a:noFill/>
          <a:ln w="22225">
            <a:solidFill>
              <a:schemeClr val="accent6"/>
            </a:solidFill>
            <a:prstDash val="solid"/>
            <a:tailEnd type="triangle"/>
          </a:ln>
        </p:spPr>
      </p:sp>
      <p:sp>
        <p:nvSpPr>
          <p:cNvPr id="11" name="state INTERVIEW_SCHEDULED"/>
          <p:cNvSpPr/>
          <p:nvPr/>
        </p:nvSpPr>
        <p:spPr>
          <a:xfrm>
            <a:off x="6766560" y="1737360"/>
            <a:ext cx="2651760" cy="914400"/>
          </a:xfrm>
          <a:prstGeom prst="roundRect">
            <a:avLst>
              <a:gd name="adj" fmla="val 14000"/>
            </a:avLst>
          </a:prstGeom>
          <a:solidFill>
            <a:schemeClr val="accent3"/>
          </a:solidFill>
          <a:ln w="6350">
            <a:solidFill>
              <a:schemeClr val="accent3"/>
            </a:solidFill>
            <a:prstDash val="solid"/>
          </a:ln>
          <a:effectLst>
            <a:outerShdw sx="100000" sy="100000" kx="0" ky="0" algn="bl" rotWithShape="0" blurRad="101600" dist="25400" dir="5400000">
              <a:srgbClr val="0B1020">
                <a:alpha val="12000"/>
              </a:srgbClr>
            </a:outerShdw>
          </a:effectLst>
        </p:spPr>
      </p:sp>
      <p:sp>
        <p:nvSpPr>
          <p:cNvPr id="12" name="state label INTERVIEW_SCHEDULED"/>
          <p:cNvSpPr txBox="1"/>
          <p:nvPr/>
        </p:nvSpPr>
        <p:spPr>
          <a:xfrm>
            <a:off x="6766560" y="1737360"/>
            <a:ext cx="2651760" cy="914400"/>
          </a:xfrm>
          <a:prstGeom prst="rect">
            <a:avLst/>
          </a:prstGeom>
          <a:noFill/>
          <a:ln/>
        </p:spPr>
        <p:txBody>
          <a:bodyPr wrap="square" lIns="635" tIns="635" rIns="635" bIns="635" rtlCol="0" anchor="ctr"/>
          <a:lstStyle/>
          <a:p>
            <a:pPr algn="ctr" indent="0" marL="0">
              <a:buNone/>
            </a:pPr>
            <a:r>
              <a:rPr lang="en-US" sz="1500" b="1" dirty="0">
                <a:solidFill>
                  <a:schemeClr val="bg1"/>
                </a:solidFill>
              </a:rPr>
              <a:t>INTERVIEW_SCHEDULED</a:t>
            </a:r>
            <a:endParaRPr lang="en-US" sz="1500" dirty="0"/>
          </a:p>
        </p:txBody>
      </p:sp>
      <p:sp>
        <p:nvSpPr>
          <p:cNvPr id="13" name="actor of INTERVIEW_SCHEDULED"/>
          <p:cNvSpPr txBox="1"/>
          <p:nvPr/>
        </p:nvSpPr>
        <p:spPr>
          <a:xfrm>
            <a:off x="6766560" y="1371600"/>
            <a:ext cx="2651760" cy="320040"/>
          </a:xfrm>
          <a:prstGeom prst="rect">
            <a:avLst/>
          </a:prstGeom>
          <a:noFill/>
          <a:ln/>
        </p:spPr>
        <p:txBody>
          <a:bodyPr wrap="square" lIns="0" tIns="0" rIns="0" bIns="0" rtlCol="0" anchor="ctr"/>
          <a:lstStyle/>
          <a:p>
            <a:pPr algn="ctr" indent="0" marL="0">
              <a:buNone/>
            </a:pPr>
            <a:r>
              <a:rPr lang="en-US" sz="1300" dirty="0">
                <a:solidFill>
                  <a:schemeClr val="accent6"/>
                </a:solidFill>
              </a:rPr>
              <a:t>Recruiter</a:t>
            </a:r>
            <a:endParaRPr lang="en-US" sz="1300" dirty="0"/>
          </a:p>
        </p:txBody>
      </p:sp>
      <p:sp>
        <p:nvSpPr>
          <p:cNvPr id="14" name="arrow"/>
          <p:cNvSpPr/>
          <p:nvPr/>
        </p:nvSpPr>
        <p:spPr>
          <a:xfrm>
            <a:off x="9464040" y="2194560"/>
            <a:ext cx="365760" cy="0"/>
          </a:xfrm>
          <a:prstGeom prst="line">
            <a:avLst/>
          </a:prstGeom>
          <a:noFill/>
          <a:ln w="22225">
            <a:solidFill>
              <a:schemeClr val="accent6"/>
            </a:solidFill>
            <a:prstDash val="solid"/>
            <a:tailEnd type="triangle"/>
          </a:ln>
        </p:spPr>
      </p:sp>
      <p:sp>
        <p:nvSpPr>
          <p:cNvPr id="15" name="state ACCEPTED"/>
          <p:cNvSpPr/>
          <p:nvPr/>
        </p:nvSpPr>
        <p:spPr>
          <a:xfrm>
            <a:off x="9875520" y="1417320"/>
            <a:ext cx="1783080" cy="731520"/>
          </a:xfrm>
          <a:prstGeom prst="roundRect">
            <a:avLst>
              <a:gd name="adj" fmla="val 17500"/>
            </a:avLst>
          </a:prstGeom>
          <a:solidFill>
            <a:schemeClr val="accent2"/>
          </a:solidFill>
          <a:ln w="6350">
            <a:solidFill>
              <a:schemeClr val="accent2"/>
            </a:solidFill>
            <a:prstDash val="solid"/>
          </a:ln>
          <a:effectLst>
            <a:outerShdw sx="100000" sy="100000" kx="0" ky="0" algn="bl" rotWithShape="0" blurRad="101600" dist="25400" dir="5400000">
              <a:srgbClr val="0B1020">
                <a:alpha val="12000"/>
              </a:srgbClr>
            </a:outerShdw>
          </a:effectLst>
        </p:spPr>
      </p:sp>
      <p:sp>
        <p:nvSpPr>
          <p:cNvPr id="16" name="state label ACCEPTED"/>
          <p:cNvSpPr txBox="1"/>
          <p:nvPr/>
        </p:nvSpPr>
        <p:spPr>
          <a:xfrm>
            <a:off x="9875520" y="1417320"/>
            <a:ext cx="1783080" cy="731520"/>
          </a:xfrm>
          <a:prstGeom prst="rect">
            <a:avLst/>
          </a:prstGeom>
          <a:noFill/>
          <a:ln/>
        </p:spPr>
        <p:txBody>
          <a:bodyPr wrap="square" lIns="0" tIns="0" rIns="0" bIns="0" rtlCol="0" anchor="ctr"/>
          <a:lstStyle/>
          <a:p>
            <a:pPr algn="ctr" indent="0" marL="0">
              <a:buNone/>
            </a:pPr>
            <a:r>
              <a:rPr lang="en-US" sz="1600" b="1" dirty="0">
                <a:solidFill>
                  <a:schemeClr val="bg1"/>
                </a:solidFill>
              </a:rPr>
              <a:t>ACCEPTED</a:t>
            </a:r>
            <a:endParaRPr lang="en-US" sz="1600" dirty="0"/>
          </a:p>
        </p:txBody>
      </p:sp>
      <p:sp>
        <p:nvSpPr>
          <p:cNvPr id="17" name="state REJECTED"/>
          <p:cNvSpPr/>
          <p:nvPr/>
        </p:nvSpPr>
        <p:spPr>
          <a:xfrm>
            <a:off x="9875520" y="2286000"/>
            <a:ext cx="1783080" cy="731520"/>
          </a:xfrm>
          <a:prstGeom prst="roundRect">
            <a:avLst>
              <a:gd name="adj" fmla="val 17500"/>
            </a:avLst>
          </a:prstGeom>
          <a:solidFill>
            <a:schemeClr val="accent5"/>
          </a:solidFill>
          <a:ln w="6350">
            <a:solidFill>
              <a:schemeClr val="accent5"/>
            </a:solidFill>
            <a:prstDash val="solid"/>
          </a:ln>
          <a:effectLst>
            <a:outerShdw sx="100000" sy="100000" kx="0" ky="0" algn="bl" rotWithShape="0" blurRad="101600" dist="25400" dir="5400000">
              <a:srgbClr val="0B1020">
                <a:alpha val="12000"/>
              </a:srgbClr>
            </a:outerShdw>
          </a:effectLst>
        </p:spPr>
      </p:sp>
      <p:sp>
        <p:nvSpPr>
          <p:cNvPr id="18" name="state label REJECTED"/>
          <p:cNvSpPr txBox="1"/>
          <p:nvPr/>
        </p:nvSpPr>
        <p:spPr>
          <a:xfrm>
            <a:off x="9875520" y="2286000"/>
            <a:ext cx="1783080" cy="731520"/>
          </a:xfrm>
          <a:prstGeom prst="rect">
            <a:avLst/>
          </a:prstGeom>
          <a:noFill/>
          <a:ln/>
        </p:spPr>
        <p:txBody>
          <a:bodyPr wrap="square" lIns="0" tIns="0" rIns="0" bIns="0" rtlCol="0" anchor="ctr"/>
          <a:lstStyle/>
          <a:p>
            <a:pPr algn="ctr" indent="0" marL="0">
              <a:buNone/>
            </a:pPr>
            <a:r>
              <a:rPr lang="en-US" sz="1600" b="1" dirty="0">
                <a:solidFill>
                  <a:schemeClr val="bg1"/>
                </a:solidFill>
              </a:rPr>
              <a:t>REJECTED</a:t>
            </a:r>
            <a:endParaRPr lang="en-US" sz="1600" dirty="0"/>
          </a:p>
        </p:txBody>
      </p:sp>
      <p:sp>
        <p:nvSpPr>
          <p:cNvPr id="19" name="lifecycle card Student"/>
          <p:cNvSpPr/>
          <p:nvPr/>
        </p:nvSpPr>
        <p:spPr>
          <a:xfrm>
            <a:off x="548640" y="3520440"/>
            <a:ext cx="3566160" cy="2377440"/>
          </a:xfrm>
          <a:prstGeom prst="roundRect">
            <a:avLst>
              <a:gd name="adj" fmla="val 461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20" name="Student circle"/>
          <p:cNvSpPr/>
          <p:nvPr/>
        </p:nvSpPr>
        <p:spPr>
          <a:xfrm>
            <a:off x="822960" y="3749040"/>
            <a:ext cx="594360" cy="594360"/>
          </a:xfrm>
          <a:prstGeom prst="ellipse">
            <a:avLst/>
          </a:prstGeom>
          <a:solidFill>
            <a:schemeClr val="accent1"/>
          </a:solidFill>
          <a:ln w="6350">
            <a:solidFill>
              <a:schemeClr val="accent1"/>
            </a:solidFill>
            <a:prstDash val="solid"/>
          </a:ln>
        </p:spPr>
      </p:sp>
      <p:pic>
        <p:nvPicPr>
          <p:cNvPr id="21" name="Student glyph" descr="Student">    </p:cNvPr>
          <p:cNvPicPr>
            <a:picLocks noChangeAspect="1"/>
          </p:cNvPicPr>
          <p:nvPr/>
        </p:nvPicPr>
        <p:blipFill>
          <a:blip r:embed="rId1"/>
          <a:stretch>
            <a:fillRect/>
          </a:stretch>
        </p:blipFill>
        <p:spPr>
          <a:xfrm>
            <a:off x="977494" y="3903574"/>
            <a:ext cx="285293" cy="285293"/>
          </a:xfrm>
          <a:prstGeom prst="rect">
            <a:avLst/>
          </a:prstGeom>
        </p:spPr>
      </p:pic>
      <p:sp>
        <p:nvSpPr>
          <p:cNvPr id="22" name="lifecycle title Student"/>
          <p:cNvSpPr txBox="1"/>
          <p:nvPr/>
        </p:nvSpPr>
        <p:spPr>
          <a:xfrm>
            <a:off x="1600200" y="3749040"/>
            <a:ext cx="2377440" cy="594360"/>
          </a:xfrm>
          <a:prstGeom prst="rect">
            <a:avLst/>
          </a:prstGeom>
          <a:noFill/>
          <a:ln/>
        </p:spPr>
        <p:txBody>
          <a:bodyPr wrap="square" lIns="0" tIns="0" rIns="0" bIns="0" rtlCol="0" anchor="ctr"/>
          <a:lstStyle/>
          <a:p>
            <a:pPr indent="0" marL="0">
              <a:buNone/>
            </a:pPr>
            <a:r>
              <a:rPr lang="en-US" sz="1900" b="1" dirty="0">
                <a:solidFill>
                  <a:schemeClr val="tx2"/>
                </a:solidFill>
              </a:rPr>
              <a:t>Student</a:t>
            </a:r>
            <a:endParaRPr lang="en-US" sz="1900" dirty="0"/>
          </a:p>
        </p:txBody>
      </p:sp>
      <p:sp>
        <p:nvSpPr>
          <p:cNvPr id="23" name="lifecycle text Student"/>
          <p:cNvSpPr txBox="1"/>
          <p:nvPr/>
        </p:nvSpPr>
        <p:spPr>
          <a:xfrm>
            <a:off x="822960" y="4526280"/>
            <a:ext cx="3063240" cy="1280160"/>
          </a:xfrm>
          <a:prstGeom prst="rect">
            <a:avLst/>
          </a:prstGeom>
          <a:noFill/>
          <a:ln/>
        </p:spPr>
        <p:txBody>
          <a:bodyPr wrap="square" lIns="0" tIns="0" rIns="0" bIns="0" rtlCol="0" anchor="t"/>
          <a:lstStyle/>
          <a:p>
            <a:pPr indent="0" marL="0">
              <a:buNone/>
            </a:pPr>
            <a:r>
              <a:rPr lang="en-US" sz="1500" dirty="0">
                <a:solidFill>
                  <a:schemeClr val="tx1"/>
                </a:solidFill>
              </a:rPr>
              <a:t>Applies once per posting. Sees the current status and remarks on the next page load.</a:t>
            </a:r>
            <a:endParaRPr lang="en-US" sz="1500" dirty="0"/>
          </a:p>
        </p:txBody>
      </p:sp>
      <p:sp>
        <p:nvSpPr>
          <p:cNvPr id="24" name="lifecycle card Recruiter"/>
          <p:cNvSpPr/>
          <p:nvPr/>
        </p:nvSpPr>
        <p:spPr>
          <a:xfrm>
            <a:off x="4297680" y="3520440"/>
            <a:ext cx="3566160" cy="2377440"/>
          </a:xfrm>
          <a:prstGeom prst="roundRect">
            <a:avLst>
              <a:gd name="adj" fmla="val 461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25" name="Recruiter circle"/>
          <p:cNvSpPr/>
          <p:nvPr/>
        </p:nvSpPr>
        <p:spPr>
          <a:xfrm>
            <a:off x="4572000" y="3749040"/>
            <a:ext cx="594360" cy="594360"/>
          </a:xfrm>
          <a:prstGeom prst="ellipse">
            <a:avLst/>
          </a:prstGeom>
          <a:solidFill>
            <a:schemeClr val="accent3"/>
          </a:solidFill>
          <a:ln w="6350">
            <a:solidFill>
              <a:schemeClr val="accent3"/>
            </a:solidFill>
            <a:prstDash val="solid"/>
          </a:ln>
        </p:spPr>
      </p:sp>
      <p:pic>
        <p:nvPicPr>
          <p:cNvPr id="26" name="Recruiter glyph" descr="Recruiter">    </p:cNvPr>
          <p:cNvPicPr>
            <a:picLocks noChangeAspect="1"/>
          </p:cNvPicPr>
          <p:nvPr/>
        </p:nvPicPr>
        <p:blipFill>
          <a:blip r:embed="rId2"/>
          <a:stretch>
            <a:fillRect/>
          </a:stretch>
        </p:blipFill>
        <p:spPr>
          <a:xfrm>
            <a:off x="4726534" y="3903574"/>
            <a:ext cx="285293" cy="285293"/>
          </a:xfrm>
          <a:prstGeom prst="rect">
            <a:avLst/>
          </a:prstGeom>
        </p:spPr>
      </p:pic>
      <p:sp>
        <p:nvSpPr>
          <p:cNvPr id="27" name="lifecycle title Recruiter"/>
          <p:cNvSpPr txBox="1"/>
          <p:nvPr/>
        </p:nvSpPr>
        <p:spPr>
          <a:xfrm>
            <a:off x="5349240" y="3749040"/>
            <a:ext cx="2377440" cy="594360"/>
          </a:xfrm>
          <a:prstGeom prst="rect">
            <a:avLst/>
          </a:prstGeom>
          <a:noFill/>
          <a:ln/>
        </p:spPr>
        <p:txBody>
          <a:bodyPr wrap="square" lIns="0" tIns="0" rIns="0" bIns="0" rtlCol="0" anchor="ctr"/>
          <a:lstStyle/>
          <a:p>
            <a:pPr indent="0" marL="0">
              <a:buNone/>
            </a:pPr>
            <a:r>
              <a:rPr lang="en-US" sz="1900" b="1" dirty="0">
                <a:solidFill>
                  <a:schemeClr val="tx2"/>
                </a:solidFill>
              </a:rPr>
              <a:t>Recruiter</a:t>
            </a:r>
            <a:endParaRPr lang="en-US" sz="1900" dirty="0"/>
          </a:p>
        </p:txBody>
      </p:sp>
      <p:sp>
        <p:nvSpPr>
          <p:cNvPr id="28" name="lifecycle text Recruiter"/>
          <p:cNvSpPr txBox="1"/>
          <p:nvPr/>
        </p:nvSpPr>
        <p:spPr>
          <a:xfrm>
            <a:off x="4572000" y="4526280"/>
            <a:ext cx="3063240" cy="1280160"/>
          </a:xfrm>
          <a:prstGeom prst="rect">
            <a:avLst/>
          </a:prstGeom>
          <a:noFill/>
          <a:ln/>
        </p:spPr>
        <p:txBody>
          <a:bodyPr wrap="square" lIns="0" tIns="0" rIns="0" bIns="0" rtlCol="0" anchor="t"/>
          <a:lstStyle/>
          <a:p>
            <a:pPr indent="0" marL="0">
              <a:buNone/>
            </a:pPr>
            <a:r>
              <a:rPr lang="en-US" sz="1500" dirty="0">
                <a:solidFill>
                  <a:schemeClr val="tx1"/>
                </a:solidFill>
              </a:rPr>
              <a:t>Owns the posting. Moves each candidate forward and records remarks at every step.</a:t>
            </a:r>
            <a:endParaRPr lang="en-US" sz="1500" dirty="0"/>
          </a:p>
        </p:txBody>
      </p:sp>
      <p:sp>
        <p:nvSpPr>
          <p:cNvPr id="29" name="lifecycle card Final decision"/>
          <p:cNvSpPr/>
          <p:nvPr/>
        </p:nvSpPr>
        <p:spPr>
          <a:xfrm>
            <a:off x="8046720" y="3520440"/>
            <a:ext cx="3566160" cy="2377440"/>
          </a:xfrm>
          <a:prstGeom prst="roundRect">
            <a:avLst>
              <a:gd name="adj" fmla="val 4615"/>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30" name="Final decision circle"/>
          <p:cNvSpPr/>
          <p:nvPr/>
        </p:nvSpPr>
        <p:spPr>
          <a:xfrm>
            <a:off x="8321040" y="3749040"/>
            <a:ext cx="594360" cy="594360"/>
          </a:xfrm>
          <a:prstGeom prst="ellipse">
            <a:avLst/>
          </a:prstGeom>
          <a:solidFill>
            <a:schemeClr val="accent2"/>
          </a:solidFill>
          <a:ln w="6350">
            <a:solidFill>
              <a:schemeClr val="accent2"/>
            </a:solidFill>
            <a:prstDash val="solid"/>
          </a:ln>
        </p:spPr>
      </p:sp>
      <p:pic>
        <p:nvPicPr>
          <p:cNvPr id="31" name="Final decision glyph" descr="Final decision">    </p:cNvPr>
          <p:cNvPicPr>
            <a:picLocks noChangeAspect="1"/>
          </p:cNvPicPr>
          <p:nvPr/>
        </p:nvPicPr>
        <p:blipFill>
          <a:blip r:embed="rId3"/>
          <a:stretch>
            <a:fillRect/>
          </a:stretch>
        </p:blipFill>
        <p:spPr>
          <a:xfrm>
            <a:off x="8475574" y="3903574"/>
            <a:ext cx="285293" cy="285293"/>
          </a:xfrm>
          <a:prstGeom prst="rect">
            <a:avLst/>
          </a:prstGeom>
        </p:spPr>
      </p:pic>
      <p:sp>
        <p:nvSpPr>
          <p:cNvPr id="32" name="lifecycle title Final decision"/>
          <p:cNvSpPr txBox="1"/>
          <p:nvPr/>
        </p:nvSpPr>
        <p:spPr>
          <a:xfrm>
            <a:off x="9098280" y="3749040"/>
            <a:ext cx="2377440" cy="594360"/>
          </a:xfrm>
          <a:prstGeom prst="rect">
            <a:avLst/>
          </a:prstGeom>
          <a:noFill/>
          <a:ln/>
        </p:spPr>
        <p:txBody>
          <a:bodyPr wrap="square" lIns="0" tIns="0" rIns="0" bIns="0" rtlCol="0" anchor="ctr"/>
          <a:lstStyle/>
          <a:p>
            <a:pPr indent="0" marL="0">
              <a:buNone/>
            </a:pPr>
            <a:r>
              <a:rPr lang="en-US" sz="1900" b="1" dirty="0">
                <a:solidFill>
                  <a:schemeClr val="tx2"/>
                </a:solidFill>
              </a:rPr>
              <a:t>Final decision</a:t>
            </a:r>
            <a:endParaRPr lang="en-US" sz="1900" dirty="0"/>
          </a:p>
        </p:txBody>
      </p:sp>
      <p:sp>
        <p:nvSpPr>
          <p:cNvPr id="33" name="lifecycle text Final decision"/>
          <p:cNvSpPr txBox="1"/>
          <p:nvPr/>
        </p:nvSpPr>
        <p:spPr>
          <a:xfrm>
            <a:off x="8321040" y="4526280"/>
            <a:ext cx="3063240" cy="1280160"/>
          </a:xfrm>
          <a:prstGeom prst="rect">
            <a:avLst/>
          </a:prstGeom>
          <a:noFill/>
          <a:ln/>
        </p:spPr>
        <p:txBody>
          <a:bodyPr wrap="square" lIns="0" tIns="0" rIns="0" bIns="0" rtlCol="0" anchor="t"/>
          <a:lstStyle/>
          <a:p>
            <a:pPr indent="0" marL="0">
              <a:buNone/>
            </a:pPr>
            <a:r>
              <a:rPr lang="en-US" sz="1500" dirty="0">
                <a:solidFill>
                  <a:schemeClr val="tx1"/>
                </a:solidFill>
              </a:rPr>
              <a:t>Interview ends in ACCEPTED or REJECTED. Interview remarks are stored with the application.</a:t>
            </a:r>
            <a:endParaRPr lang="en-US" sz="1500" dirty="0"/>
          </a:p>
        </p:txBody>
      </p:sp>
      <p:sp>
        <p:nvSpPr>
          <p:cNvPr id="34" name="lifecycle footnote"/>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200" i="1" dirty="0">
                <a:solidFill>
                  <a:schemeClr val="accent6"/>
                </a:solidFill>
              </a:rPr>
              <a:t>Transitions are specified as one forward path; enforcement is by the UI today, with a server-side transition table planned.</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Server-Side Eligibility and Applying</a:t>
            </a:r>
            <a:endParaRPr lang="en-US" sz="3400" dirty="0"/>
          </a:p>
        </p:txBody>
      </p:sp>
      <p:sp>
        <p:nvSpPr>
          <p:cNvPr id="3" name="eligibility card"/>
          <p:cNvSpPr/>
          <p:nvPr/>
        </p:nvSpPr>
        <p:spPr>
          <a:xfrm>
            <a:off x="548640" y="1417320"/>
            <a:ext cx="5394960" cy="4800600"/>
          </a:xfrm>
          <a:prstGeom prst="roundRect">
            <a:avLst>
              <a:gd name="adj" fmla="val 2286"/>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4" name="eligibility heading"/>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200" b="1" dirty="0">
                <a:solidFill>
                  <a:schemeClr val="tx2"/>
                </a:solidFill>
              </a:rPr>
              <a:t>Eligibility rule</a:t>
            </a:r>
            <a:endParaRPr lang="en-US" sz="2200" dirty="0"/>
          </a:p>
        </p:txBody>
      </p:sp>
      <p:sp>
        <p:nvSpPr>
          <p:cNvPr id="5" name="rule box"/>
          <p:cNvSpPr/>
          <p:nvPr/>
        </p:nvSpPr>
        <p:spPr>
          <a:xfrm>
            <a:off x="822960" y="2148840"/>
            <a:ext cx="4846320" cy="1508760"/>
          </a:xfrm>
          <a:prstGeom prst="roundRect">
            <a:avLst>
              <a:gd name="adj" fmla="val 6061"/>
            </a:avLst>
          </a:prstGeom>
          <a:solidFill>
            <a:schemeClr val="tx2"/>
          </a:solidFill>
          <a:ln w="6350">
            <a:solidFill>
              <a:schemeClr val="tx2"/>
            </a:solidFill>
            <a:prstDash val="solid"/>
          </a:ln>
        </p:spPr>
      </p:sp>
      <p:sp>
        <p:nvSpPr>
          <p:cNvPr id="6" name="rule text"/>
          <p:cNvSpPr txBox="1"/>
          <p:nvPr/>
        </p:nvSpPr>
        <p:spPr>
          <a:xfrm>
            <a:off x="822960" y="2148840"/>
            <a:ext cx="4846320" cy="1508760"/>
          </a:xfrm>
          <a:prstGeom prst="rect">
            <a:avLst/>
          </a:prstGeom>
          <a:noFill/>
          <a:ln/>
        </p:spPr>
        <p:txBody>
          <a:bodyPr wrap="square" lIns="1270" tIns="1270" rIns="1270" bIns="1270" rtlCol="0" anchor="ctr"/>
          <a:lstStyle/>
          <a:p>
            <a:pPr algn="ctr" indent="0" marL="0">
              <a:buNone/>
            </a:pPr>
            <a:r>
              <a:rPr lang="en-US" sz="1700" b="1" dirty="0">
                <a:solidFill>
                  <a:schemeClr val="bg1"/>
                </a:solidFill>
              </a:rPr>
              <a:t>Student.CGPA ≥ Job.min_cgpa</a:t>
            </a:r>
            <a:endParaRPr lang="en-US" sz="1700" dirty="0"/>
          </a:p>
          <a:p>
            <a:pPr algn="ctr" indent="0" marL="0">
              <a:buNone/>
            </a:pPr>
            <a:r>
              <a:rPr lang="en-US" sz="1700" b="1" dirty="0">
                <a:solidFill>
                  <a:schemeClr val="accent2"/>
                </a:solidFill>
              </a:rPr>
              <a:t>AND</a:t>
            </a:r>
            <a:endParaRPr lang="en-US" sz="1700" dirty="0"/>
          </a:p>
          <a:p>
            <a:pPr algn="ctr" indent="0" marL="0">
              <a:buNone/>
            </a:pPr>
            <a:r>
              <a:rPr lang="en-US" sz="1700" dirty="0">
                <a:solidFill>
                  <a:schemeClr val="bg1"/>
                </a:solidFill>
              </a:rPr>
              <a:t>branch is allowed (or "All Branches")</a:t>
            </a:r>
            <a:endParaRPr lang="en-US" sz="1700" dirty="0"/>
          </a:p>
        </p:txBody>
      </p:sp>
      <p:sp>
        <p:nvSpPr>
          <p:cNvPr id="7" name="eligibility points"/>
          <p:cNvSpPr txBox="1"/>
          <p:nvPr/>
        </p:nvSpPr>
        <p:spPr>
          <a:xfrm>
            <a:off x="822960" y="3840480"/>
            <a:ext cx="48463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Checked when postings are listed</a:t>
            </a:r>
            <a:endParaRPr lang="en-US" sz="1500" dirty="0"/>
          </a:p>
          <a:p>
            <a:pPr marL="342900" indent="-342900">
              <a:spcAft>
                <a:spcPts val="600"/>
              </a:spcAft>
              <a:buSzPct val="100000"/>
              <a:buChar char="•"/>
            </a:pPr>
            <a:r>
              <a:rPr lang="en-US" sz="1500" dirty="0">
                <a:solidFill>
                  <a:schemeClr val="tx1"/>
                </a:solidFill>
              </a:rPr>
              <a:t>Checked again at submission, so a client-side bypass cannot create an ineligible application</a:t>
            </a:r>
            <a:endParaRPr lang="en-US" sz="1500" dirty="0"/>
          </a:p>
          <a:p>
            <a:pPr marL="342900" indent="-342900">
              <a:spcAft>
                <a:spcPts val="600"/>
              </a:spcAft>
              <a:buSzPct val="100000"/>
              <a:buChar char="•"/>
            </a:pPr>
            <a:r>
              <a:rPr lang="en-US" sz="1500" dirty="0">
                <a:solidFill>
                  <a:schemeClr val="tx1"/>
                </a:solidFill>
              </a:rPr>
              <a:t>Eligibility is only as accurate as the entered CGPA; TPO verification is the real control</a:t>
            </a:r>
            <a:endParaRPr lang="en-US" sz="1500" dirty="0"/>
          </a:p>
        </p:txBody>
      </p:sp>
      <p:sp>
        <p:nvSpPr>
          <p:cNvPr id="8" name="submit card"/>
          <p:cNvSpPr/>
          <p:nvPr/>
        </p:nvSpPr>
        <p:spPr>
          <a:xfrm>
            <a:off x="6263640" y="1417320"/>
            <a:ext cx="5394960" cy="4800600"/>
          </a:xfrm>
          <a:prstGeom prst="roundRect">
            <a:avLst>
              <a:gd name="adj" fmla="val 2286"/>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9" name="submit heading"/>
          <p:cNvSpPr txBox="1"/>
          <p:nvPr/>
        </p:nvSpPr>
        <p:spPr>
          <a:xfrm>
            <a:off x="6537960" y="1554480"/>
            <a:ext cx="4846320" cy="457200"/>
          </a:xfrm>
          <a:prstGeom prst="rect">
            <a:avLst/>
          </a:prstGeom>
          <a:noFill/>
          <a:ln/>
        </p:spPr>
        <p:txBody>
          <a:bodyPr wrap="square" lIns="0" tIns="0" rIns="0" bIns="0" rtlCol="0" anchor="ctr"/>
          <a:lstStyle/>
          <a:p>
            <a:pPr indent="0" marL="0">
              <a:buNone/>
            </a:pPr>
            <a:r>
              <a:rPr lang="en-US" sz="2200" b="1" dirty="0">
                <a:solidFill>
                  <a:schemeClr val="tx2"/>
                </a:solidFill>
              </a:rPr>
              <a:t>Submit application</a:t>
            </a:r>
            <a:endParaRPr lang="en-US" sz="2200" dirty="0"/>
          </a:p>
        </p:txBody>
      </p:sp>
      <p:sp>
        <p:nvSpPr>
          <p:cNvPr id="10" name="step circle 1"/>
          <p:cNvSpPr/>
          <p:nvPr/>
        </p:nvSpPr>
        <p:spPr>
          <a:xfrm>
            <a:off x="6537960" y="2194560"/>
            <a:ext cx="594360" cy="594360"/>
          </a:xfrm>
          <a:prstGeom prst="ellipse">
            <a:avLst/>
          </a:prstGeom>
          <a:solidFill>
            <a:schemeClr val="accent1"/>
          </a:solidFill>
          <a:ln w="6350">
            <a:solidFill>
              <a:schemeClr val="bg1"/>
            </a:solidFill>
            <a:prstDash val="solid"/>
          </a:ln>
        </p:spPr>
      </p:sp>
      <p:sp>
        <p:nvSpPr>
          <p:cNvPr id="11" name="step number 1"/>
          <p:cNvSpPr txBox="1"/>
          <p:nvPr/>
        </p:nvSpPr>
        <p:spPr>
          <a:xfrm>
            <a:off x="6537960" y="219456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2" name="step text 1"/>
          <p:cNvSpPr txBox="1"/>
          <p:nvPr/>
        </p:nvSpPr>
        <p:spPr>
          <a:xfrm>
            <a:off x="7360920" y="2148840"/>
            <a:ext cx="4069080" cy="685800"/>
          </a:xfrm>
          <a:prstGeom prst="rect">
            <a:avLst/>
          </a:prstGeom>
          <a:noFill/>
          <a:ln/>
        </p:spPr>
        <p:txBody>
          <a:bodyPr wrap="square" lIns="0" tIns="0" rIns="0" bIns="0" rtlCol="0" anchor="ctr"/>
          <a:lstStyle/>
          <a:p>
            <a:pPr indent="0" marL="0">
              <a:buNone/>
            </a:pPr>
            <a:r>
              <a:rPr lang="en-US" sz="1500" dirty="0">
                <a:solidFill>
                  <a:schemeClr val="tx1"/>
                </a:solidFill>
              </a:rPr>
              <a:t>Load student profile and posting</a:t>
            </a:r>
            <a:endParaRPr lang="en-US" sz="1500" dirty="0"/>
          </a:p>
        </p:txBody>
      </p:sp>
      <p:sp>
        <p:nvSpPr>
          <p:cNvPr id="13" name="step circle 2"/>
          <p:cNvSpPr/>
          <p:nvPr/>
        </p:nvSpPr>
        <p:spPr>
          <a:xfrm>
            <a:off x="6537960" y="3200400"/>
            <a:ext cx="594360" cy="594360"/>
          </a:xfrm>
          <a:prstGeom prst="ellipse">
            <a:avLst/>
          </a:prstGeom>
          <a:solidFill>
            <a:schemeClr val="accent3"/>
          </a:solidFill>
          <a:ln w="6350">
            <a:solidFill>
              <a:schemeClr val="bg1"/>
            </a:solidFill>
            <a:prstDash val="solid"/>
          </a:ln>
        </p:spPr>
      </p:sp>
      <p:sp>
        <p:nvSpPr>
          <p:cNvPr id="14" name="step number 2"/>
          <p:cNvSpPr txBox="1"/>
          <p:nvPr/>
        </p:nvSpPr>
        <p:spPr>
          <a:xfrm>
            <a:off x="6537960" y="32004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step text 2"/>
          <p:cNvSpPr txBox="1"/>
          <p:nvPr/>
        </p:nvSpPr>
        <p:spPr>
          <a:xfrm>
            <a:off x="7360920" y="3154680"/>
            <a:ext cx="4069080" cy="685800"/>
          </a:xfrm>
          <a:prstGeom prst="rect">
            <a:avLst/>
          </a:prstGeom>
          <a:noFill/>
          <a:ln/>
        </p:spPr>
        <p:txBody>
          <a:bodyPr wrap="square" lIns="0" tIns="0" rIns="0" bIns="0" rtlCol="0" anchor="ctr"/>
          <a:lstStyle/>
          <a:p>
            <a:pPr indent="0" marL="0">
              <a:buNone/>
            </a:pPr>
            <a:r>
              <a:rPr lang="en-US" sz="1500" dirty="0">
                <a:solidFill>
                  <a:schemeClr val="tx1"/>
                </a:solidFill>
              </a:rPr>
              <a:t>Apply eligibility check; reject if ineligible</a:t>
            </a:r>
            <a:endParaRPr lang="en-US" sz="1500" dirty="0"/>
          </a:p>
        </p:txBody>
      </p:sp>
      <p:sp>
        <p:nvSpPr>
          <p:cNvPr id="16" name="step circle 3"/>
          <p:cNvSpPr/>
          <p:nvPr/>
        </p:nvSpPr>
        <p:spPr>
          <a:xfrm>
            <a:off x="6537960" y="4206240"/>
            <a:ext cx="594360" cy="594360"/>
          </a:xfrm>
          <a:prstGeom prst="ellipse">
            <a:avLst/>
          </a:prstGeom>
          <a:solidFill>
            <a:schemeClr val="accent2"/>
          </a:solidFill>
          <a:ln w="6350">
            <a:solidFill>
              <a:schemeClr val="bg1"/>
            </a:solidFill>
            <a:prstDash val="solid"/>
          </a:ln>
        </p:spPr>
      </p:sp>
      <p:sp>
        <p:nvSpPr>
          <p:cNvPr id="17" name="step number 3"/>
          <p:cNvSpPr txBox="1"/>
          <p:nvPr/>
        </p:nvSpPr>
        <p:spPr>
          <a:xfrm>
            <a:off x="6537960" y="420624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step text 3"/>
          <p:cNvSpPr txBox="1"/>
          <p:nvPr/>
        </p:nvSpPr>
        <p:spPr>
          <a:xfrm>
            <a:off x="7360920" y="4160520"/>
            <a:ext cx="4069080" cy="685800"/>
          </a:xfrm>
          <a:prstGeom prst="rect">
            <a:avLst/>
          </a:prstGeom>
          <a:noFill/>
          <a:ln/>
        </p:spPr>
        <p:txBody>
          <a:bodyPr wrap="square" lIns="0" tIns="0" rIns="0" bIns="0" rtlCol="0" anchor="ctr"/>
          <a:lstStyle/>
          <a:p>
            <a:pPr indent="0" marL="0">
              <a:buNone/>
            </a:pPr>
            <a:r>
              <a:rPr lang="en-US" sz="1500" dirty="0">
                <a:solidFill>
                  <a:schemeClr val="tx1"/>
                </a:solidFill>
              </a:rPr>
              <a:t>Insert with status PENDING via prepared statement</a:t>
            </a:r>
            <a:endParaRPr lang="en-US" sz="1500" dirty="0"/>
          </a:p>
        </p:txBody>
      </p:sp>
      <p:sp>
        <p:nvSpPr>
          <p:cNvPr id="19" name="step circle 4"/>
          <p:cNvSpPr/>
          <p:nvPr/>
        </p:nvSpPr>
        <p:spPr>
          <a:xfrm>
            <a:off x="6537960" y="5212080"/>
            <a:ext cx="594360" cy="594360"/>
          </a:xfrm>
          <a:prstGeom prst="ellipse">
            <a:avLst/>
          </a:prstGeom>
          <a:solidFill>
            <a:schemeClr val="accent4"/>
          </a:solidFill>
          <a:ln w="6350">
            <a:solidFill>
              <a:schemeClr val="bg1"/>
            </a:solidFill>
            <a:prstDash val="solid"/>
          </a:ln>
        </p:spPr>
      </p:sp>
      <p:sp>
        <p:nvSpPr>
          <p:cNvPr id="20" name="step number 4"/>
          <p:cNvSpPr txBox="1"/>
          <p:nvPr/>
        </p:nvSpPr>
        <p:spPr>
          <a:xfrm>
            <a:off x="6537960" y="521208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step text 4"/>
          <p:cNvSpPr txBox="1"/>
          <p:nvPr/>
        </p:nvSpPr>
        <p:spPr>
          <a:xfrm>
            <a:off x="7360920" y="5166360"/>
            <a:ext cx="4069080" cy="685800"/>
          </a:xfrm>
          <a:prstGeom prst="rect">
            <a:avLst/>
          </a:prstGeom>
          <a:noFill/>
          <a:ln/>
        </p:spPr>
        <p:txBody>
          <a:bodyPr wrap="square" lIns="0" tIns="0" rIns="0" bIns="0" rtlCol="0" anchor="ctr"/>
          <a:lstStyle/>
          <a:p>
            <a:pPr indent="0" marL="0">
              <a:buNone/>
            </a:pPr>
            <a:r>
              <a:rPr lang="en-US" sz="1500" dirty="0">
                <a:solidFill>
                  <a:schemeClr val="tx1"/>
                </a:solidFill>
              </a:rPr>
              <a:t>UNIQUE constraint rejects duplicates, even concurrent ones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Deployed Prototype: Home and Listings</a:t>
            </a:r>
            <a:endParaRPr lang="en-US" sz="3400" dirty="0"/>
          </a:p>
        </p:txBody>
      </p:sp>
      <p:sp>
        <p:nvSpPr>
          <p:cNvPr id="3" name="home page screenshot frame"/>
          <p:cNvSpPr/>
          <p:nvPr/>
        </p:nvSpPr>
        <p:spPr>
          <a:xfrm>
            <a:off x="512064" y="1380744"/>
            <a:ext cx="5513832" cy="2663952"/>
          </a:xfrm>
          <a:prstGeom prst="roundRect">
            <a:avLst>
              <a:gd name="adj" fmla="val 2746"/>
            </a:avLst>
          </a:prstGeom>
          <a:solidFill>
            <a:schemeClr val="bg1"/>
          </a:solidFill>
          <a:ln w="9525">
            <a:solidFill>
              <a:srgbClr val="CBD3E6"/>
            </a:solidFill>
            <a:prstDash val="solid"/>
          </a:ln>
          <a:effectLst>
            <a:outerShdw sx="100000" sy="100000" kx="0" ky="0" algn="bl" rotWithShape="0" blurRad="101600" dist="25400" dir="5400000">
              <a:srgbClr val="0B1020">
                <a:alpha val="12000"/>
              </a:srgbClr>
            </a:outerShdw>
          </a:effectLst>
        </p:spPr>
      </p:sp>
      <p:pic>
        <p:nvPicPr>
          <p:cNvPr id="4" name="home page screenshot" descr="home page screenshot">    </p:cNvPr>
          <p:cNvPicPr>
            <a:picLocks noChangeAspect="1"/>
          </p:cNvPicPr>
          <p:nvPr/>
        </p:nvPicPr>
        <p:blipFill>
          <a:blip r:embed="rId1"/>
          <a:srcRect l="0" r="0" t="0" b="0"/>
          <a:stretch/>
        </p:blipFill>
        <p:spPr>
          <a:xfrm>
            <a:off x="548640" y="1417320"/>
            <a:ext cx="5440680" cy="2590800"/>
          </a:xfrm>
          <a:prstGeom prst="rect">
            <a:avLst/>
          </a:prstGeom>
        </p:spPr>
      </p:pic>
      <p:sp>
        <p:nvSpPr>
          <p:cNvPr id="5" name="job listings screenshot frame"/>
          <p:cNvSpPr/>
          <p:nvPr/>
        </p:nvSpPr>
        <p:spPr>
          <a:xfrm>
            <a:off x="6181344" y="1380744"/>
            <a:ext cx="5513832" cy="2663952"/>
          </a:xfrm>
          <a:prstGeom prst="roundRect">
            <a:avLst>
              <a:gd name="adj" fmla="val 2746"/>
            </a:avLst>
          </a:prstGeom>
          <a:solidFill>
            <a:schemeClr val="bg1"/>
          </a:solidFill>
          <a:ln w="9525">
            <a:solidFill>
              <a:srgbClr val="CBD3E6"/>
            </a:solidFill>
            <a:prstDash val="solid"/>
          </a:ln>
          <a:effectLst>
            <a:outerShdw sx="100000" sy="100000" kx="0" ky="0" algn="bl" rotWithShape="0" blurRad="101600" dist="25400" dir="5400000">
              <a:srgbClr val="0B1020">
                <a:alpha val="12000"/>
              </a:srgbClr>
            </a:outerShdw>
          </a:effectLst>
        </p:spPr>
      </p:sp>
      <p:pic>
        <p:nvPicPr>
          <p:cNvPr id="6" name="job listings screenshot" descr="job listings screenshot">    </p:cNvPr>
          <p:cNvPicPr>
            <a:picLocks noChangeAspect="1"/>
          </p:cNvPicPr>
          <p:nvPr/>
        </p:nvPicPr>
        <p:blipFill>
          <a:blip r:embed="rId2"/>
          <a:srcRect l="0" r="0" t="0" b="0"/>
          <a:stretch/>
        </p:blipFill>
        <p:spPr>
          <a:xfrm>
            <a:off x="6217920" y="1417320"/>
            <a:ext cx="5440680" cy="2590800"/>
          </a:xfrm>
          <a:prstGeom prst="rect">
            <a:avLst/>
          </a:prstGeom>
        </p:spPr>
      </p:pic>
      <p:sp>
        <p:nvSpPr>
          <p:cNvPr id="7" name="caption home"/>
          <p:cNvSpPr txBox="1"/>
          <p:nvPr/>
        </p:nvSpPr>
        <p:spPr>
          <a:xfrm>
            <a:off x="548640" y="4114800"/>
            <a:ext cx="5440680" cy="320040"/>
          </a:xfrm>
          <a:prstGeom prst="rect">
            <a:avLst/>
          </a:prstGeom>
          <a:noFill/>
          <a:ln/>
        </p:spPr>
        <p:txBody>
          <a:bodyPr wrap="square" lIns="0" tIns="0" rIns="0" bIns="0" rtlCol="0" anchor="ctr"/>
          <a:lstStyle/>
          <a:p>
            <a:pPr indent="0" marL="0">
              <a:buNone/>
            </a:pPr>
            <a:r>
              <a:rPr lang="en-US" sz="1200" dirty="0">
                <a:solidFill>
                  <a:schemeClr val="accent6"/>
                </a:solidFill>
              </a:rPr>
              <a:t>Home page with live counters and portal entry points</a:t>
            </a:r>
            <a:endParaRPr lang="en-US" sz="1200" dirty="0"/>
          </a:p>
        </p:txBody>
      </p:sp>
      <p:sp>
        <p:nvSpPr>
          <p:cNvPr id="8" name="caption jobs"/>
          <p:cNvSpPr txBox="1"/>
          <p:nvPr/>
        </p:nvSpPr>
        <p:spPr>
          <a:xfrm>
            <a:off x="6217920" y="4114800"/>
            <a:ext cx="5440680" cy="320040"/>
          </a:xfrm>
          <a:prstGeom prst="rect">
            <a:avLst/>
          </a:prstGeom>
          <a:noFill/>
          <a:ln/>
        </p:spPr>
        <p:txBody>
          <a:bodyPr wrap="square" lIns="0" tIns="0" rIns="0" bIns="0" rtlCol="0" anchor="ctr"/>
          <a:lstStyle/>
          <a:p>
            <a:pPr indent="0" marL="0">
              <a:buNone/>
            </a:pPr>
            <a:r>
              <a:rPr lang="en-US" sz="1200" dirty="0">
                <a:solidFill>
                  <a:schemeClr val="accent6"/>
                </a:solidFill>
              </a:rPr>
              <a:t>Placement drives with package (LPA), minimum CGPA and deadline</a:t>
            </a:r>
            <a:endParaRPr lang="en-US" sz="1200" dirty="0"/>
          </a:p>
        </p:txBody>
      </p:sp>
      <p:sp>
        <p:nvSpPr>
          <p:cNvPr id="9" name="ui note card"/>
          <p:cNvSpPr/>
          <p:nvPr/>
        </p:nvSpPr>
        <p:spPr>
          <a:xfrm>
            <a:off x="548640" y="4663440"/>
            <a:ext cx="11109960" cy="1554480"/>
          </a:xfrm>
          <a:prstGeom prst="roundRect">
            <a:avLst>
              <a:gd name="adj" fmla="val 7059"/>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10" name="ui notes"/>
          <p:cNvSpPr txBox="1"/>
          <p:nvPr/>
        </p:nvSpPr>
        <p:spPr>
          <a:xfrm>
            <a:off x="822960" y="4754880"/>
            <a:ext cx="10607040" cy="137160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chemeClr val="tx1"/>
                </a:solidFill>
              </a:rPr>
              <a:t>Cards show job title, company, location, package or stipend and an Apply button.</a:t>
            </a:r>
            <a:endParaRPr lang="en-US" sz="1500" dirty="0"/>
          </a:p>
          <a:p>
            <a:pPr marL="342900" indent="-342900">
              <a:spcAft>
                <a:spcPts val="400"/>
              </a:spcAft>
              <a:buSzPct val="100000"/>
              <a:buChar char="•"/>
            </a:pPr>
            <a:r>
              <a:rPr lang="en-US" sz="1500" dirty="0">
                <a:solidFill>
                  <a:schemeClr val="tx1"/>
                </a:solidFill>
              </a:rPr>
              <a:t>Internships list monthly stipend and duration; a "Why CampusHire?" panel explains value to students, companies and the TPO.</a:t>
            </a:r>
            <a:endParaRPr lang="en-US" sz="1500" dirty="0"/>
          </a:p>
          <a:p>
            <a:pPr marL="342900" indent="-342900">
              <a:spcAft>
                <a:spcPts val="400"/>
              </a:spcAft>
              <a:buSzPct val="100000"/>
              <a:buChar char="•"/>
            </a:pPr>
            <a:r>
              <a:rPr lang="en-US" sz="1500" dirty="0">
                <a:solidFill>
                  <a:schemeClr val="tx1"/>
                </a:solidFill>
              </a:rPr>
              <a:t>Counters and cards are sample data in the deployed instance.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Registration and Login Screens</a:t>
            </a:r>
            <a:endParaRPr lang="en-US" sz="3400" dirty="0"/>
          </a:p>
        </p:txBody>
      </p:sp>
      <p:sp>
        <p:nvSpPr>
          <p:cNvPr id="3" name="screenshot chooser frame"/>
          <p:cNvSpPr/>
          <p:nvPr/>
        </p:nvSpPr>
        <p:spPr>
          <a:xfrm>
            <a:off x="1037844" y="1335024"/>
            <a:ext cx="4462272" cy="2163209"/>
          </a:xfrm>
          <a:prstGeom prst="roundRect">
            <a:avLst>
              <a:gd name="adj" fmla="val 3382"/>
            </a:avLst>
          </a:prstGeom>
          <a:solidFill>
            <a:schemeClr val="bg1"/>
          </a:solidFill>
          <a:ln w="9525">
            <a:solidFill>
              <a:srgbClr val="CBD3E6"/>
            </a:solidFill>
            <a:prstDash val="solid"/>
          </a:ln>
          <a:effectLst>
            <a:outerShdw sx="100000" sy="100000" kx="0" ky="0" algn="bl" rotWithShape="0" blurRad="101600" dist="25400" dir="5400000">
              <a:srgbClr val="0B1020">
                <a:alpha val="12000"/>
              </a:srgbClr>
            </a:outerShdw>
          </a:effectLst>
        </p:spPr>
      </p:sp>
      <p:pic>
        <p:nvPicPr>
          <p:cNvPr id="4" name="screenshot chooser" descr="screenshot chooser">    </p:cNvPr>
          <p:cNvPicPr>
            <a:picLocks noChangeAspect="1"/>
          </p:cNvPicPr>
          <p:nvPr/>
        </p:nvPicPr>
        <p:blipFill>
          <a:blip r:embed="rId1"/>
          <a:srcRect l="0" r="0" t="0" b="0"/>
          <a:stretch/>
        </p:blipFill>
        <p:spPr>
          <a:xfrm>
            <a:off x="1074420" y="1371600"/>
            <a:ext cx="4389120" cy="2090057"/>
          </a:xfrm>
          <a:prstGeom prst="rect">
            <a:avLst/>
          </a:prstGeom>
        </p:spPr>
      </p:pic>
      <p:sp>
        <p:nvSpPr>
          <p:cNvPr id="5" name="caption chooser"/>
          <p:cNvSpPr txBox="1"/>
          <p:nvPr/>
        </p:nvSpPr>
        <p:spPr>
          <a:xfrm>
            <a:off x="1074420" y="3547872"/>
            <a:ext cx="4389120" cy="274320"/>
          </a:xfrm>
          <a:prstGeom prst="rect">
            <a:avLst/>
          </a:prstGeom>
          <a:noFill/>
          <a:ln/>
        </p:spPr>
        <p:txBody>
          <a:bodyPr wrap="square" lIns="0" tIns="0" rIns="0" bIns="0" rtlCol="0" anchor="ctr"/>
          <a:lstStyle/>
          <a:p>
            <a:pPr indent="0" marL="0">
              <a:buNone/>
            </a:pPr>
            <a:r>
              <a:rPr lang="en-US" sz="1200" dirty="0">
                <a:solidFill>
                  <a:schemeClr val="accent6"/>
                </a:solidFill>
              </a:rPr>
              <a:t>Registration chooser: student or recruiter</a:t>
            </a:r>
            <a:endParaRPr lang="en-US" sz="1200" dirty="0"/>
          </a:p>
        </p:txBody>
      </p:sp>
      <p:sp>
        <p:nvSpPr>
          <p:cNvPr id="6" name="screenshot student frame"/>
          <p:cNvSpPr/>
          <p:nvPr/>
        </p:nvSpPr>
        <p:spPr>
          <a:xfrm>
            <a:off x="6707124" y="1335024"/>
            <a:ext cx="4462272" cy="2163209"/>
          </a:xfrm>
          <a:prstGeom prst="roundRect">
            <a:avLst>
              <a:gd name="adj" fmla="val 3382"/>
            </a:avLst>
          </a:prstGeom>
          <a:solidFill>
            <a:schemeClr val="bg1"/>
          </a:solidFill>
          <a:ln w="9525">
            <a:solidFill>
              <a:srgbClr val="CBD3E6"/>
            </a:solidFill>
            <a:prstDash val="solid"/>
          </a:ln>
          <a:effectLst>
            <a:outerShdw sx="100000" sy="100000" kx="0" ky="0" algn="bl" rotWithShape="0" blurRad="101600" dist="25400" dir="5400000">
              <a:srgbClr val="0B1020">
                <a:alpha val="12000"/>
              </a:srgbClr>
            </a:outerShdw>
          </a:effectLst>
        </p:spPr>
      </p:sp>
      <p:pic>
        <p:nvPicPr>
          <p:cNvPr id="7" name="screenshot student" descr="screenshot student">    </p:cNvPr>
          <p:cNvPicPr>
            <a:picLocks noChangeAspect="1"/>
          </p:cNvPicPr>
          <p:nvPr/>
        </p:nvPicPr>
        <p:blipFill>
          <a:blip r:embed="rId2"/>
          <a:srcRect l="0" r="0" t="0" b="0"/>
          <a:stretch/>
        </p:blipFill>
        <p:spPr>
          <a:xfrm>
            <a:off x="6743700" y="1371600"/>
            <a:ext cx="4389120" cy="2090057"/>
          </a:xfrm>
          <a:prstGeom prst="rect">
            <a:avLst/>
          </a:prstGeom>
        </p:spPr>
      </p:pic>
      <p:sp>
        <p:nvSpPr>
          <p:cNvPr id="8" name="caption student"/>
          <p:cNvSpPr txBox="1"/>
          <p:nvPr/>
        </p:nvSpPr>
        <p:spPr>
          <a:xfrm>
            <a:off x="6743700" y="3547872"/>
            <a:ext cx="4389120" cy="274320"/>
          </a:xfrm>
          <a:prstGeom prst="rect">
            <a:avLst/>
          </a:prstGeom>
          <a:noFill/>
          <a:ln/>
        </p:spPr>
        <p:txBody>
          <a:bodyPr wrap="square" lIns="0" tIns="0" rIns="0" bIns="0" rtlCol="0" anchor="ctr"/>
          <a:lstStyle/>
          <a:p>
            <a:pPr indent="0" marL="0">
              <a:buNone/>
            </a:pPr>
            <a:r>
              <a:rPr lang="en-US" sz="1200" dirty="0">
                <a:solidFill>
                  <a:schemeClr val="accent6"/>
                </a:solidFill>
              </a:rPr>
              <a:t>Student registration: roll no, branch, CGPA, résumé link</a:t>
            </a:r>
            <a:endParaRPr lang="en-US" sz="1200" dirty="0"/>
          </a:p>
        </p:txBody>
      </p:sp>
      <p:sp>
        <p:nvSpPr>
          <p:cNvPr id="9" name="screenshot company frame"/>
          <p:cNvSpPr/>
          <p:nvPr/>
        </p:nvSpPr>
        <p:spPr>
          <a:xfrm>
            <a:off x="1037844" y="3941064"/>
            <a:ext cx="4462272" cy="2163209"/>
          </a:xfrm>
          <a:prstGeom prst="roundRect">
            <a:avLst>
              <a:gd name="adj" fmla="val 3382"/>
            </a:avLst>
          </a:prstGeom>
          <a:solidFill>
            <a:schemeClr val="bg1"/>
          </a:solidFill>
          <a:ln w="9525">
            <a:solidFill>
              <a:srgbClr val="CBD3E6"/>
            </a:solidFill>
            <a:prstDash val="solid"/>
          </a:ln>
          <a:effectLst>
            <a:outerShdw sx="100000" sy="100000" kx="0" ky="0" algn="bl" rotWithShape="0" blurRad="101600" dist="25400" dir="5400000">
              <a:srgbClr val="0B1020">
                <a:alpha val="12000"/>
              </a:srgbClr>
            </a:outerShdw>
          </a:effectLst>
        </p:spPr>
      </p:sp>
      <p:pic>
        <p:nvPicPr>
          <p:cNvPr id="10" name="screenshot company" descr="screenshot company">    </p:cNvPr>
          <p:cNvPicPr>
            <a:picLocks noChangeAspect="1"/>
          </p:cNvPicPr>
          <p:nvPr/>
        </p:nvPicPr>
        <p:blipFill>
          <a:blip r:embed="rId3"/>
          <a:srcRect l="0" r="0" t="0" b="0"/>
          <a:stretch/>
        </p:blipFill>
        <p:spPr>
          <a:xfrm>
            <a:off x="1074420" y="3977640"/>
            <a:ext cx="4389120" cy="2090057"/>
          </a:xfrm>
          <a:prstGeom prst="rect">
            <a:avLst/>
          </a:prstGeom>
        </p:spPr>
      </p:pic>
      <p:sp>
        <p:nvSpPr>
          <p:cNvPr id="11" name="caption company"/>
          <p:cNvSpPr txBox="1"/>
          <p:nvPr/>
        </p:nvSpPr>
        <p:spPr>
          <a:xfrm>
            <a:off x="1074420" y="6153912"/>
            <a:ext cx="4389120" cy="274320"/>
          </a:xfrm>
          <a:prstGeom prst="rect">
            <a:avLst/>
          </a:prstGeom>
          <a:noFill/>
          <a:ln/>
        </p:spPr>
        <p:txBody>
          <a:bodyPr wrap="square" lIns="0" tIns="0" rIns="0" bIns="0" rtlCol="0" anchor="ctr"/>
          <a:lstStyle/>
          <a:p>
            <a:pPr indent="0" marL="0">
              <a:buNone/>
            </a:pPr>
            <a:r>
              <a:rPr lang="en-US" sz="1200" dirty="0">
                <a:solidFill>
                  <a:schemeClr val="accent6"/>
                </a:solidFill>
              </a:rPr>
              <a:t>Company registration: needs TPO approval</a:t>
            </a:r>
            <a:endParaRPr lang="en-US" sz="1200" dirty="0"/>
          </a:p>
        </p:txBody>
      </p:sp>
      <p:sp>
        <p:nvSpPr>
          <p:cNvPr id="12" name="screenshot loginadmin frame"/>
          <p:cNvSpPr/>
          <p:nvPr/>
        </p:nvSpPr>
        <p:spPr>
          <a:xfrm>
            <a:off x="6707124" y="3941064"/>
            <a:ext cx="4462272" cy="2163209"/>
          </a:xfrm>
          <a:prstGeom prst="roundRect">
            <a:avLst>
              <a:gd name="adj" fmla="val 3382"/>
            </a:avLst>
          </a:prstGeom>
          <a:solidFill>
            <a:schemeClr val="bg1"/>
          </a:solidFill>
          <a:ln w="9525">
            <a:solidFill>
              <a:srgbClr val="CBD3E6"/>
            </a:solidFill>
            <a:prstDash val="solid"/>
          </a:ln>
          <a:effectLst>
            <a:outerShdw sx="100000" sy="100000" kx="0" ky="0" algn="bl" rotWithShape="0" blurRad="101600" dist="25400" dir="5400000">
              <a:srgbClr val="0B1020">
                <a:alpha val="12000"/>
              </a:srgbClr>
            </a:outerShdw>
          </a:effectLst>
        </p:spPr>
      </p:sp>
      <p:pic>
        <p:nvPicPr>
          <p:cNvPr id="13" name="screenshot loginadmin" descr="screenshot loginadmin">    </p:cNvPr>
          <p:cNvPicPr>
            <a:picLocks noChangeAspect="1"/>
          </p:cNvPicPr>
          <p:nvPr/>
        </p:nvPicPr>
        <p:blipFill>
          <a:blip r:embed="rId4"/>
          <a:srcRect l="0" r="0" t="0" b="0"/>
          <a:stretch/>
        </p:blipFill>
        <p:spPr>
          <a:xfrm>
            <a:off x="6743700" y="3977640"/>
            <a:ext cx="4389120" cy="2090057"/>
          </a:xfrm>
          <a:prstGeom prst="rect">
            <a:avLst/>
          </a:prstGeom>
        </p:spPr>
      </p:pic>
      <p:sp>
        <p:nvSpPr>
          <p:cNvPr id="14" name="caption loginadmin"/>
          <p:cNvSpPr txBox="1"/>
          <p:nvPr/>
        </p:nvSpPr>
        <p:spPr>
          <a:xfrm>
            <a:off x="6743700" y="6153912"/>
            <a:ext cx="4389120" cy="274320"/>
          </a:xfrm>
          <a:prstGeom prst="rect">
            <a:avLst/>
          </a:prstGeom>
          <a:noFill/>
          <a:ln/>
        </p:spPr>
        <p:txBody>
          <a:bodyPr wrap="square" lIns="0" tIns="0" rIns="0" bIns="0" rtlCol="0" anchor="ctr"/>
          <a:lstStyle/>
          <a:p>
            <a:pPr indent="0" marL="0">
              <a:buNone/>
            </a:pPr>
            <a:r>
              <a:rPr lang="en-US" sz="1200" dirty="0">
                <a:solidFill>
                  <a:schemeClr val="accent6"/>
                </a:solidFill>
              </a:rPr>
              <a:t>Role-tabbed login: Student, Company HR, Admin / TPO</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Security: Threats and Limits</a:t>
            </a:r>
            <a:endParaRPr lang="en-US" sz="3400" dirty="0"/>
          </a:p>
        </p:txBody>
      </p:sp>
      <p:graphicFrame>
        <p:nvGraphicFramePr>
          <p:cNvPr id="13" name="threat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651760"/>
                <a:gridCol w="4206240"/>
                <a:gridCol w="4206240"/>
              </a:tblGrid>
              <a:tr h="566928">
                <a:tc>
                  <a:txBody>
                    <a:bodyPr/>
                    <a:lstStyle/>
                    <a:p>
                      <a:pPr indent="0" marL="0">
                        <a:buNone/>
                      </a:pPr>
                      <a:r>
                        <a:rPr lang="en-US" sz="1400" b="1" dirty="0">
                          <a:solidFill>
                            <a:schemeClr val="bg1"/>
                          </a:solidFill>
                        </a:rPr>
                        <a:t>Threat</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Reduced by design</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Residual risk</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Direct URL access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WEB-INF views + AuthFilter role check</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New route not added to the filter</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SQL injection</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Prepared statements for all queries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future developer may concatenate SQL</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Fake company</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TPO approval gate</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TPO errors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Duplicate application</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UNIQUE constraint</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None known</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Credential theft</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One-way SHA-256 hash</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b="1" dirty="0">
                          <a:solidFill>
                            <a:srgbClr val="B91C1C"/>
                          </a:solidFill>
                        </a:rPr>
                        <a:t>Unsalted and fast; replace with bcrypt / Argon2id</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Session / CSRF / XSS</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Server-side sessions, TLS in cloud, JSP output encoding</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Cookie flags, CSRF and escaping still to be verified</a:t>
                      </a:r>
                      <a:endParaRPr lang="en-US" sz="1400" dirty="0"/>
                    </a:p>
                  </a:txBody>
                  <a:tcPr marL="91440" marR="91440" marT="45720" marB="45720"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chemeClr val="bg1"/>
                    </a:solidFill>
                  </a:tcPr>
                </a:tc>
              </a:tr>
            </a:tbl>
          </a:graphicData>
        </a:graphic>
      </p:graphicFrame>
      <p:sp>
        <p:nvSpPr>
          <p:cNvPr id="4" name="limit note card"/>
          <p:cNvSpPr/>
          <p:nvPr/>
        </p:nvSpPr>
        <p:spPr>
          <a:xfrm>
            <a:off x="548640" y="5486400"/>
            <a:ext cx="11064240" cy="777240"/>
          </a:xfrm>
          <a:prstGeom prst="roundRect">
            <a:avLst>
              <a:gd name="adj" fmla="val 14118"/>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5" name="limit note"/>
          <p:cNvSpPr txBox="1"/>
          <p:nvPr/>
        </p:nvSpPr>
        <p:spPr>
          <a:xfrm>
            <a:off x="822960" y="5486400"/>
            <a:ext cx="10515600" cy="777240"/>
          </a:xfrm>
          <a:prstGeom prst="rect">
            <a:avLst/>
          </a:prstGeom>
          <a:noFill/>
          <a:ln/>
        </p:spPr>
        <p:txBody>
          <a:bodyPr wrap="square" lIns="0" tIns="0" rIns="0" bIns="0" rtlCol="0" anchor="ctr"/>
          <a:lstStyle/>
          <a:p>
            <a:pPr indent="0" marL="0">
              <a:buNone/>
            </a:pPr>
            <a:r>
              <a:rPr lang="en-US" sz="1500" dirty="0">
                <a:solidFill>
                  <a:schemeClr val="tx1"/>
                </a:solidFill>
              </a:rPr>
              <a:t>Injection payload tests: no successful injection observed. This shows known attacks failed, not that none exist.</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Evaluation: Measured Engineering Values</a:t>
            </a:r>
            <a:endParaRPr lang="en-US" sz="3400" dirty="0"/>
          </a:p>
        </p:txBody>
      </p:sp>
      <p:graphicFrame>
        <p:nvGraphicFramePr>
          <p:cNvPr id="3" name="Chart 0" descr=""/>
          <p:cNvGraphicFramePr/>
          <p:nvPr/>
        </p:nvGraphicFramePr>
        <p:xfrm>
          <a:off x="548640" y="137160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4" name="stat card WAR size"/>
          <p:cNvSpPr/>
          <p:nvPr/>
        </p:nvSpPr>
        <p:spPr>
          <a:xfrm>
            <a:off x="7772400" y="1371600"/>
            <a:ext cx="3886200" cy="1280160"/>
          </a:xfrm>
          <a:prstGeom prst="roundRect">
            <a:avLst>
              <a:gd name="adj" fmla="val 8571"/>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5" name="stat value 2.45 MB"/>
          <p:cNvSpPr txBox="1"/>
          <p:nvPr/>
        </p:nvSpPr>
        <p:spPr>
          <a:xfrm>
            <a:off x="8001000" y="1463040"/>
            <a:ext cx="34747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2.45 MB</a:t>
            </a:r>
            <a:endParaRPr lang="en-US" sz="3600" dirty="0"/>
          </a:p>
        </p:txBody>
      </p:sp>
      <p:sp>
        <p:nvSpPr>
          <p:cNvPr id="6" name="stat label 2.45 MB"/>
          <p:cNvSpPr txBox="1"/>
          <p:nvPr/>
        </p:nvSpPr>
        <p:spPr>
          <a:xfrm>
            <a:off x="8001000" y="2148840"/>
            <a:ext cx="3474720" cy="411480"/>
          </a:xfrm>
          <a:prstGeom prst="rect">
            <a:avLst/>
          </a:prstGeom>
          <a:noFill/>
          <a:ln/>
        </p:spPr>
        <p:txBody>
          <a:bodyPr wrap="square" lIns="0" tIns="0" rIns="0" bIns="0" rtlCol="0" anchor="t"/>
          <a:lstStyle/>
          <a:p>
            <a:pPr indent="0" marL="0">
              <a:buNone/>
            </a:pPr>
            <a:r>
              <a:rPr lang="en-US" sz="1400" dirty="0">
                <a:solidFill>
                  <a:schemeClr val="tx1"/>
                </a:solidFill>
              </a:rPr>
              <a:t>WAR size</a:t>
            </a:r>
            <a:endParaRPr lang="en-US" sz="1400" dirty="0"/>
          </a:p>
        </p:txBody>
      </p:sp>
      <p:sp>
        <p:nvSpPr>
          <p:cNvPr id="7" name="stat card Local container startup (5.2 s cloud)"/>
          <p:cNvSpPr/>
          <p:nvPr/>
        </p:nvSpPr>
        <p:spPr>
          <a:xfrm>
            <a:off x="7772400" y="2834640"/>
            <a:ext cx="3886200" cy="1280160"/>
          </a:xfrm>
          <a:prstGeom prst="roundRect">
            <a:avLst>
              <a:gd name="adj" fmla="val 8571"/>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8" name="stat value 1.75 s"/>
          <p:cNvSpPr txBox="1"/>
          <p:nvPr/>
        </p:nvSpPr>
        <p:spPr>
          <a:xfrm>
            <a:off x="8001000" y="2926080"/>
            <a:ext cx="34747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1.75 s</a:t>
            </a:r>
            <a:endParaRPr lang="en-US" sz="3600" dirty="0"/>
          </a:p>
        </p:txBody>
      </p:sp>
      <p:sp>
        <p:nvSpPr>
          <p:cNvPr id="9" name="stat label 1.75 s"/>
          <p:cNvSpPr txBox="1"/>
          <p:nvPr/>
        </p:nvSpPr>
        <p:spPr>
          <a:xfrm>
            <a:off x="8001000" y="3611880"/>
            <a:ext cx="3474720" cy="411480"/>
          </a:xfrm>
          <a:prstGeom prst="rect">
            <a:avLst/>
          </a:prstGeom>
          <a:noFill/>
          <a:ln/>
        </p:spPr>
        <p:txBody>
          <a:bodyPr wrap="square" lIns="0" tIns="0" rIns="0" bIns="0" rtlCol="0" anchor="t"/>
          <a:lstStyle/>
          <a:p>
            <a:pPr indent="0" marL="0">
              <a:buNone/>
            </a:pPr>
            <a:r>
              <a:rPr lang="en-US" sz="1400" dirty="0">
                <a:solidFill>
                  <a:schemeClr val="tx1"/>
                </a:solidFill>
              </a:rPr>
              <a:t>Local container startup (5.2 s cloud)</a:t>
            </a:r>
            <a:endParaRPr lang="en-US" sz="1400" dirty="0"/>
          </a:p>
        </p:txBody>
      </p:sp>
      <p:sp>
        <p:nvSpPr>
          <p:cNvPr id="10" name="stat card Idle JVM memory (210 MB cloud)"/>
          <p:cNvSpPr/>
          <p:nvPr/>
        </p:nvSpPr>
        <p:spPr>
          <a:xfrm>
            <a:off x="7772400" y="4297680"/>
            <a:ext cx="3886200" cy="1280160"/>
          </a:xfrm>
          <a:prstGeom prst="roundRect">
            <a:avLst>
              <a:gd name="adj" fmla="val 8571"/>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11" name="stat value 168 MB"/>
          <p:cNvSpPr txBox="1"/>
          <p:nvPr/>
        </p:nvSpPr>
        <p:spPr>
          <a:xfrm>
            <a:off x="8001000" y="4389120"/>
            <a:ext cx="34747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168 MB</a:t>
            </a:r>
            <a:endParaRPr lang="en-US" sz="3600" dirty="0"/>
          </a:p>
        </p:txBody>
      </p:sp>
      <p:sp>
        <p:nvSpPr>
          <p:cNvPr id="12" name="stat label 168 MB"/>
          <p:cNvSpPr txBox="1"/>
          <p:nvPr/>
        </p:nvSpPr>
        <p:spPr>
          <a:xfrm>
            <a:off x="8001000" y="5074920"/>
            <a:ext cx="3474720" cy="411480"/>
          </a:xfrm>
          <a:prstGeom prst="rect">
            <a:avLst/>
          </a:prstGeom>
          <a:noFill/>
          <a:ln/>
        </p:spPr>
        <p:txBody>
          <a:bodyPr wrap="square" lIns="0" tIns="0" rIns="0" bIns="0" rtlCol="0" anchor="t"/>
          <a:lstStyle/>
          <a:p>
            <a:pPr indent="0" marL="0">
              <a:buNone/>
            </a:pPr>
            <a:r>
              <a:rPr lang="en-US" sz="1400" dirty="0">
                <a:solidFill>
                  <a:schemeClr val="tx1"/>
                </a:solidFill>
              </a:rPr>
              <a:t>Idle JVM memory (210 MB cloud)</a:t>
            </a:r>
            <a:endParaRPr lang="en-US" sz="1400" dirty="0"/>
          </a:p>
        </p:txBody>
      </p:sp>
      <p:sp>
        <p:nvSpPr>
          <p:cNvPr id="13" name="eval caveat"/>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300" i="1" dirty="0">
                <a:solidFill>
                  <a:schemeClr val="accent6"/>
                </a:solidFill>
              </a:rPr>
              <a:t>Team-recorded in single environments. Not a load test, user study or security audit; no framework baseline was measured.</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Conclusion and Future Work</a:t>
            </a:r>
            <a:endParaRPr lang="en-US" sz="3400" dirty="0"/>
          </a:p>
        </p:txBody>
      </p:sp>
      <p:sp>
        <p:nvSpPr>
          <p:cNvPr id="3" name="conclusion card"/>
          <p:cNvSpPr/>
          <p:nvPr/>
        </p:nvSpPr>
        <p:spPr>
          <a:xfrm>
            <a:off x="548640" y="1417320"/>
            <a:ext cx="5394960" cy="4800600"/>
          </a:xfrm>
          <a:prstGeom prst="roundRect">
            <a:avLst>
              <a:gd name="adj" fmla="val 2286"/>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4" name="conclusion heading"/>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200" b="1" dirty="0">
                <a:solidFill>
                  <a:schemeClr val="accent1"/>
                </a:solidFill>
              </a:rPr>
              <a:t>Conclusion</a:t>
            </a:r>
            <a:endParaRPr lang="en-US" sz="2200" dirty="0"/>
          </a:p>
        </p:txBody>
      </p:sp>
      <p:sp>
        <p:nvSpPr>
          <p:cNvPr id="5" name="conclusion list"/>
          <p:cNvSpPr txBox="1"/>
          <p:nvPr/>
        </p:nvSpPr>
        <p:spPr>
          <a:xfrm>
            <a:off x="822960" y="2148840"/>
            <a:ext cx="4846320" cy="39319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A framework-free Java stack can support the full placement lifecycle for three self-service roles</a:t>
            </a:r>
            <a:endParaRPr lang="en-US" sz="1800" dirty="0"/>
          </a:p>
          <a:p>
            <a:pPr marL="342900" indent="-342900">
              <a:spcAft>
                <a:spcPts val="1400"/>
              </a:spcAft>
              <a:buSzPct val="100000"/>
              <a:buChar char="•"/>
            </a:pPr>
            <a:r>
              <a:rPr lang="en-US" sz="1800" dirty="0">
                <a:solidFill>
                  <a:schemeClr val="tx1"/>
                </a:solidFill>
              </a:rPr>
              <a:t>Server-side role checks, eligibility and duplicate prevention are built in</a:t>
            </a:r>
            <a:endParaRPr lang="en-US" sz="1800" dirty="0"/>
          </a:p>
          <a:p>
            <a:pPr marL="342900" indent="-342900">
              <a:spcAft>
                <a:spcPts val="1400"/>
              </a:spcAft>
              <a:buSzPct val="100000"/>
              <a:buChar char="•"/>
            </a:pPr>
            <a:r>
              <a:rPr lang="en-US" sz="1800" dirty="0">
                <a:solidFill>
                  <a:schemeClr val="tx1"/>
                </a:solidFill>
              </a:rPr>
              <a:t>Implemented and deployed as a student prototype</a:t>
            </a:r>
            <a:endParaRPr lang="en-US" sz="1800" dirty="0"/>
          </a:p>
          <a:p>
            <a:pPr marL="342900" indent="-342900">
              <a:spcAft>
                <a:spcPts val="1400"/>
              </a:spcAft>
              <a:buSzPct val="100000"/>
              <a:buChar char="•"/>
            </a:pPr>
            <a:r>
              <a:rPr lang="en-US" sz="1800" dirty="0">
                <a:solidFill>
                  <a:schemeClr val="tx1"/>
                </a:solidFill>
              </a:rPr>
              <a:t>Contribution is an integration and documented design, not a new algorithm</a:t>
            </a:r>
            <a:endParaRPr lang="en-US" sz="1800" dirty="0"/>
          </a:p>
        </p:txBody>
      </p:sp>
      <p:sp>
        <p:nvSpPr>
          <p:cNvPr id="6" name="future card"/>
          <p:cNvSpPr/>
          <p:nvPr/>
        </p:nvSpPr>
        <p:spPr>
          <a:xfrm>
            <a:off x="6263640" y="1417320"/>
            <a:ext cx="5394960" cy="4800600"/>
          </a:xfrm>
          <a:prstGeom prst="roundRect">
            <a:avLst>
              <a:gd name="adj" fmla="val 2286"/>
            </a:avLst>
          </a:prstGeom>
          <a:solidFill>
            <a:schemeClr val="bg1"/>
          </a:solidFill>
          <a:ln w="9525">
            <a:solidFill>
              <a:srgbClr val="DDE3F0"/>
            </a:solidFill>
            <a:prstDash val="solid"/>
          </a:ln>
          <a:effectLst>
            <a:outerShdw sx="100000" sy="100000" kx="0" ky="0" algn="bl" rotWithShape="0" blurRad="101600" dist="25400" dir="5400000">
              <a:srgbClr val="0B1020">
                <a:alpha val="12000"/>
              </a:srgbClr>
            </a:outerShdw>
          </a:effectLst>
        </p:spPr>
      </p:sp>
      <p:sp>
        <p:nvSpPr>
          <p:cNvPr id="7" name="future heading"/>
          <p:cNvSpPr txBox="1"/>
          <p:nvPr/>
        </p:nvSpPr>
        <p:spPr>
          <a:xfrm>
            <a:off x="6537960" y="1554480"/>
            <a:ext cx="4846320" cy="457200"/>
          </a:xfrm>
          <a:prstGeom prst="rect">
            <a:avLst/>
          </a:prstGeom>
          <a:noFill/>
          <a:ln/>
        </p:spPr>
        <p:txBody>
          <a:bodyPr wrap="square" lIns="0" tIns="0" rIns="0" bIns="0" rtlCol="0" anchor="ctr"/>
          <a:lstStyle/>
          <a:p>
            <a:pPr indent="0" marL="0">
              <a:buNone/>
            </a:pPr>
            <a:r>
              <a:rPr lang="en-US" sz="2200" b="1" dirty="0">
                <a:solidFill>
                  <a:schemeClr val="accent2"/>
                </a:solidFill>
              </a:rPr>
              <a:t>Future Work</a:t>
            </a:r>
            <a:endParaRPr lang="en-US" sz="2200" dirty="0"/>
          </a:p>
        </p:txBody>
      </p:sp>
      <p:sp>
        <p:nvSpPr>
          <p:cNvPr id="8" name="future circle 1"/>
          <p:cNvSpPr/>
          <p:nvPr/>
        </p:nvSpPr>
        <p:spPr>
          <a:xfrm>
            <a:off x="6537960" y="2240280"/>
            <a:ext cx="457200" cy="457200"/>
          </a:xfrm>
          <a:prstGeom prst="ellipse">
            <a:avLst/>
          </a:prstGeom>
          <a:solidFill>
            <a:schemeClr val="accent2"/>
          </a:solidFill>
          <a:ln w="6350">
            <a:solidFill>
              <a:schemeClr val="accent2"/>
            </a:solidFill>
            <a:prstDash val="solid"/>
          </a:ln>
        </p:spPr>
      </p:sp>
      <p:sp>
        <p:nvSpPr>
          <p:cNvPr id="9" name="future num 1"/>
          <p:cNvSpPr txBox="1"/>
          <p:nvPr/>
        </p:nvSpPr>
        <p:spPr>
          <a:xfrm>
            <a:off x="6537960" y="22402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future text 1"/>
          <p:cNvSpPr txBox="1"/>
          <p:nvPr/>
        </p:nvSpPr>
        <p:spPr>
          <a:xfrm>
            <a:off x="7178040" y="2194560"/>
            <a:ext cx="4297680" cy="594360"/>
          </a:xfrm>
          <a:prstGeom prst="rect">
            <a:avLst/>
          </a:prstGeom>
          <a:noFill/>
          <a:ln/>
        </p:spPr>
        <p:txBody>
          <a:bodyPr wrap="square" lIns="0" tIns="0" rIns="0" bIns="0" rtlCol="0" anchor="ctr"/>
          <a:lstStyle/>
          <a:p>
            <a:pPr indent="0" marL="0">
              <a:buNone/>
            </a:pPr>
            <a:r>
              <a:rPr lang="en-US" sz="1500" dirty="0">
                <a:solidFill>
                  <a:schemeClr val="tx1"/>
                </a:solidFill>
              </a:rPr>
              <a:t>Salted, slow password hashing (bcrypt / Argon2id)</a:t>
            </a:r>
            <a:endParaRPr lang="en-US" sz="1500" dirty="0"/>
          </a:p>
        </p:txBody>
      </p:sp>
      <p:sp>
        <p:nvSpPr>
          <p:cNvPr id="11" name="future circle 2"/>
          <p:cNvSpPr/>
          <p:nvPr/>
        </p:nvSpPr>
        <p:spPr>
          <a:xfrm>
            <a:off x="6537960" y="3017520"/>
            <a:ext cx="457200" cy="457200"/>
          </a:xfrm>
          <a:prstGeom prst="ellipse">
            <a:avLst/>
          </a:prstGeom>
          <a:solidFill>
            <a:schemeClr val="accent2"/>
          </a:solidFill>
          <a:ln w="6350">
            <a:solidFill>
              <a:schemeClr val="accent2"/>
            </a:solidFill>
            <a:prstDash val="solid"/>
          </a:ln>
        </p:spPr>
      </p:sp>
      <p:sp>
        <p:nvSpPr>
          <p:cNvPr id="12" name="future num 2"/>
          <p:cNvSpPr txBox="1"/>
          <p:nvPr/>
        </p:nvSpPr>
        <p:spPr>
          <a:xfrm>
            <a:off x="6537960" y="30175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future text 2"/>
          <p:cNvSpPr txBox="1"/>
          <p:nvPr/>
        </p:nvSpPr>
        <p:spPr>
          <a:xfrm>
            <a:off x="7178040" y="2971800"/>
            <a:ext cx="4297680" cy="594360"/>
          </a:xfrm>
          <a:prstGeom prst="rect">
            <a:avLst/>
          </a:prstGeom>
          <a:noFill/>
          <a:ln/>
        </p:spPr>
        <p:txBody>
          <a:bodyPr wrap="square" lIns="0" tIns="0" rIns="0" bIns="0" rtlCol="0" anchor="ctr"/>
          <a:lstStyle/>
          <a:p>
            <a:pPr indent="0" marL="0">
              <a:buNone/>
            </a:pPr>
            <a:r>
              <a:rPr lang="en-US" sz="1500" dirty="0">
                <a:solidFill>
                  <a:schemeClr val="tx1"/>
                </a:solidFill>
              </a:rPr>
              <a:t>CSRF tokens, secure cookie flags, output encoding checks</a:t>
            </a:r>
            <a:endParaRPr lang="en-US" sz="1500" dirty="0"/>
          </a:p>
        </p:txBody>
      </p:sp>
      <p:sp>
        <p:nvSpPr>
          <p:cNvPr id="14" name="future circle 3"/>
          <p:cNvSpPr/>
          <p:nvPr/>
        </p:nvSpPr>
        <p:spPr>
          <a:xfrm>
            <a:off x="6537960" y="3794760"/>
            <a:ext cx="457200" cy="457200"/>
          </a:xfrm>
          <a:prstGeom prst="ellipse">
            <a:avLst/>
          </a:prstGeom>
          <a:solidFill>
            <a:schemeClr val="accent2"/>
          </a:solidFill>
          <a:ln w="6350">
            <a:solidFill>
              <a:schemeClr val="accent2"/>
            </a:solidFill>
            <a:prstDash val="solid"/>
          </a:ln>
        </p:spPr>
      </p:sp>
      <p:sp>
        <p:nvSpPr>
          <p:cNvPr id="15" name="future num 3"/>
          <p:cNvSpPr txBox="1"/>
          <p:nvPr/>
        </p:nvSpPr>
        <p:spPr>
          <a:xfrm>
            <a:off x="6537960" y="3794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future text 3"/>
          <p:cNvSpPr txBox="1"/>
          <p:nvPr/>
        </p:nvSpPr>
        <p:spPr>
          <a:xfrm>
            <a:off x="7178040" y="3749040"/>
            <a:ext cx="4297680" cy="594360"/>
          </a:xfrm>
          <a:prstGeom prst="rect">
            <a:avLst/>
          </a:prstGeom>
          <a:noFill/>
          <a:ln/>
        </p:spPr>
        <p:txBody>
          <a:bodyPr wrap="square" lIns="0" tIns="0" rIns="0" bIns="0" rtlCol="0" anchor="ctr"/>
          <a:lstStyle/>
          <a:p>
            <a:pPr indent="0" marL="0">
              <a:buNone/>
            </a:pPr>
            <a:r>
              <a:rPr lang="en-US" sz="1500" dirty="0">
                <a:solidFill>
                  <a:schemeClr val="tx1"/>
                </a:solidFill>
              </a:rPr>
              <a:t>Audit log and server-side lifecycle transitions</a:t>
            </a:r>
            <a:endParaRPr lang="en-US" sz="1500" dirty="0"/>
          </a:p>
        </p:txBody>
      </p:sp>
      <p:sp>
        <p:nvSpPr>
          <p:cNvPr id="17" name="future circle 4"/>
          <p:cNvSpPr/>
          <p:nvPr/>
        </p:nvSpPr>
        <p:spPr>
          <a:xfrm>
            <a:off x="6537960" y="4572000"/>
            <a:ext cx="457200" cy="457200"/>
          </a:xfrm>
          <a:prstGeom prst="ellipse">
            <a:avLst/>
          </a:prstGeom>
          <a:solidFill>
            <a:schemeClr val="accent2"/>
          </a:solidFill>
          <a:ln w="6350">
            <a:solidFill>
              <a:schemeClr val="accent2"/>
            </a:solidFill>
            <a:prstDash val="solid"/>
          </a:ln>
        </p:spPr>
      </p:sp>
      <p:sp>
        <p:nvSpPr>
          <p:cNvPr id="18" name="future num 4"/>
          <p:cNvSpPr txBox="1"/>
          <p:nvPr/>
        </p:nvSpPr>
        <p:spPr>
          <a:xfrm>
            <a:off x="6537960" y="45720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future text 4"/>
          <p:cNvSpPr txBox="1"/>
          <p:nvPr/>
        </p:nvSpPr>
        <p:spPr>
          <a:xfrm>
            <a:off x="7178040" y="4526280"/>
            <a:ext cx="4297680" cy="594360"/>
          </a:xfrm>
          <a:prstGeom prst="rect">
            <a:avLst/>
          </a:prstGeom>
          <a:noFill/>
          <a:ln/>
        </p:spPr>
        <p:txBody>
          <a:bodyPr wrap="square" lIns="0" tIns="0" rIns="0" bIns="0" rtlCol="0" anchor="ctr"/>
          <a:lstStyle/>
          <a:p>
            <a:pPr indent="0" marL="0">
              <a:buNone/>
            </a:pPr>
            <a:r>
              <a:rPr lang="en-US" sz="1500" dirty="0">
                <a:solidFill>
                  <a:schemeClr val="tx1"/>
                </a:solidFill>
              </a:rPr>
              <a:t>Framework baseline, load and security testing</a:t>
            </a:r>
            <a:endParaRPr lang="en-US" sz="1500" dirty="0"/>
          </a:p>
        </p:txBody>
      </p:sp>
      <p:sp>
        <p:nvSpPr>
          <p:cNvPr id="20" name="future circle 5"/>
          <p:cNvSpPr/>
          <p:nvPr/>
        </p:nvSpPr>
        <p:spPr>
          <a:xfrm>
            <a:off x="6537960" y="5349240"/>
            <a:ext cx="457200" cy="457200"/>
          </a:xfrm>
          <a:prstGeom prst="ellipse">
            <a:avLst/>
          </a:prstGeom>
          <a:solidFill>
            <a:schemeClr val="accent2"/>
          </a:solidFill>
          <a:ln w="6350">
            <a:solidFill>
              <a:schemeClr val="accent2"/>
            </a:solidFill>
            <a:prstDash val="solid"/>
          </a:ln>
        </p:spPr>
      </p:sp>
      <p:sp>
        <p:nvSpPr>
          <p:cNvPr id="21" name="future num 5"/>
          <p:cNvSpPr txBox="1"/>
          <p:nvPr/>
        </p:nvSpPr>
        <p:spPr>
          <a:xfrm>
            <a:off x="6537960" y="5349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future text 5"/>
          <p:cNvSpPr txBox="1"/>
          <p:nvPr/>
        </p:nvSpPr>
        <p:spPr>
          <a:xfrm>
            <a:off x="7178040" y="5303520"/>
            <a:ext cx="4297680" cy="594360"/>
          </a:xfrm>
          <a:prstGeom prst="rect">
            <a:avLst/>
          </a:prstGeom>
          <a:noFill/>
          <a:ln/>
        </p:spPr>
        <p:txBody>
          <a:bodyPr wrap="square" lIns="0" tIns="0" rIns="0" bIns="0" rtlCol="0" anchor="ctr"/>
          <a:lstStyle/>
          <a:p>
            <a:pPr indent="0" marL="0">
              <a:buNone/>
            </a:pPr>
            <a:r>
              <a:rPr lang="en-US" sz="1500" dirty="0">
                <a:solidFill>
                  <a:schemeClr val="tx1"/>
                </a:solidFill>
              </a:rPr>
              <a:t>Usability study and a limited pilot with a real placement cell</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914400" y="2103120"/>
            <a:ext cx="10360152" cy="1188720"/>
          </a:xfrm>
          <a:prstGeom prst="rect">
            <a:avLst/>
          </a:prstGeom>
          <a:noFill/>
          <a:ln/>
        </p:spPr>
        <p:txBody>
          <a:bodyPr wrap="square" lIns="0" tIns="0" rIns="0" bIns="0" rtlCol="0" anchor="ctr"/>
          <a:lstStyle/>
          <a:p>
            <a:pPr algn="ctr" indent="0" marL="0">
              <a:buNone/>
            </a:pPr>
            <a:r>
              <a:rPr lang="en-US" sz="6600" b="1" dirty="0">
                <a:solidFill>
                  <a:schemeClr val="bg1"/>
                </a:solidFill>
                <a:latin typeface="Cambria" pitchFamily="34" charset="0"/>
                <a:ea typeface="Cambria" pitchFamily="34" charset="-122"/>
                <a:cs typeface="Cambria" pitchFamily="34" charset="-120"/>
              </a:rPr>
              <a:t>Thank You</a:t>
            </a:r>
            <a:endParaRPr lang="en-US" sz="6600" dirty="0"/>
          </a:p>
        </p:txBody>
      </p:sp>
      <p:sp>
        <p:nvSpPr>
          <p:cNvPr id="3" name="questions line"/>
          <p:cNvSpPr txBox="1"/>
          <p:nvPr/>
        </p:nvSpPr>
        <p:spPr>
          <a:xfrm>
            <a:off x="914400" y="3383280"/>
            <a:ext cx="10360152" cy="548640"/>
          </a:xfrm>
          <a:prstGeom prst="rect">
            <a:avLst/>
          </a:prstGeom>
          <a:noFill/>
          <a:ln/>
        </p:spPr>
        <p:txBody>
          <a:bodyPr wrap="square" lIns="0" tIns="0" rIns="0" bIns="0" rtlCol="0" anchor="ctr"/>
          <a:lstStyle/>
          <a:p>
            <a:pPr algn="ctr" indent="0" marL="0">
              <a:buNone/>
            </a:pPr>
            <a:r>
              <a:rPr lang="en-US" sz="2400" dirty="0">
                <a:solidFill>
                  <a:schemeClr val="accent2"/>
                </a:solidFill>
              </a:rPr>
              <a:t>Questions are welcome</a:t>
            </a:r>
            <a:endParaRPr lang="en-US" sz="2400" dirty="0"/>
          </a:p>
        </p:txBody>
      </p:sp>
      <p:sp>
        <p:nvSpPr>
          <p:cNvPr id="4" name="closing footer"/>
          <p:cNvSpPr txBox="1"/>
          <p:nvPr/>
        </p:nvSpPr>
        <p:spPr>
          <a:xfrm>
            <a:off x="914400" y="5760720"/>
            <a:ext cx="10360152" cy="365760"/>
          </a:xfrm>
          <a:prstGeom prst="rect">
            <a:avLst/>
          </a:prstGeom>
          <a:noFill/>
          <a:ln/>
        </p:spPr>
        <p:txBody>
          <a:bodyPr wrap="square" lIns="0" tIns="0" rIns="0" bIns="0" rtlCol="0" anchor="ctr"/>
          <a:lstStyle/>
          <a:p>
            <a:pPr algn="ctr" indent="0" marL="0">
              <a:buNone/>
            </a:pPr>
            <a:r>
              <a:rPr lang="en-US" sz="1400" dirty="0">
                <a:solidFill>
                  <a:srgbClr val="9FB0D0"/>
                </a:solidFill>
              </a:rPr>
              <a:t>CampusHire  |  Arya College of Engineering &amp; I.T., Jaipur</a:t>
            </a:r>
            <a:endParaRPr lang="en-US" sz="1400" dirty="0"/>
          </a:p>
        </p:txBody>
      </p:sp>
    </p:spTree>
  </p:cSld>
  <p:clrMapOvr>
    <a:masterClrMapping/>
  </p:clrMapOvr>
</p:sld>
</file>

<file path=ppt/theme/theme1.xml><?xml version="1.0" encoding="utf-8"?>
<a:theme xmlns:a="http://schemas.openxmlformats.org/drawingml/2006/main" name="CampusHire">
  <a:themeElements>
    <a:clrScheme name="CampusHire">
      <a:dk1>
        <a:srgbClr val="1B2236"/>
      </a:dk1>
      <a:lt1>
        <a:srgbClr val="FFFFFF"/>
      </a:lt1>
      <a:dk2>
        <a:srgbClr val="0B1020"/>
      </a:dk2>
      <a:lt2>
        <a:srgbClr val="F3F6FC"/>
      </a:lt2>
      <a:accent1>
        <a:srgbClr val="3B4FE0"/>
      </a:accent1>
      <a:accent2>
        <a:srgbClr val="14B8A6"/>
      </a:accent2>
      <a:accent3>
        <a:srgbClr val="7C3AED"/>
      </a:accent3>
      <a:accent4>
        <a:srgbClr val="F59E0B"/>
      </a:accent4>
      <a:accent5>
        <a:srgbClr val="EF4444"/>
      </a:accent5>
      <a:accent6>
        <a:srgbClr val="64748B"/>
      </a:accent6>
      <a:hlink>
        <a:srgbClr val="3B4FE0"/>
      </a:hlink>
      <a:folHlink>
        <a:srgbClr val="7C3AED"/>
      </a:folHlink>
    </a:clrScheme>
    <a:fontScheme name="CampusHi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CampusHire - College Placement &amp; Internship Management System</dc:title>
  <dc:subject>PptxGenJS Presentation</dc:subject>
  <dc:creator>Yash Kumar, Virender Singh, Udit Bhardwaj, Vaibhav Charan, Rahul Tailor</dc:creator>
  <cp:lastModifiedBy>Yash Kumar, Virender Singh, Udit Bhardwaj, Vaibhav Charan, Rahul Tailor</cp:lastModifiedBy>
  <cp:revision>1</cp:revision>
  <dcterms:created xsi:type="dcterms:W3CDTF">2026-10-13T20:43:55Z</dcterms:created>
  <dcterms:modified xsi:type="dcterms:W3CDTF">2026-10-13T20:43:55Z</dcterms:modified>
</cp:coreProperties>
</file>